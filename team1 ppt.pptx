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sldIdLst>
    <p:sldId id="256" r:id="rId2"/>
    <p:sldId id="257" r:id="rId3"/>
    <p:sldId id="258" r:id="rId4"/>
    <p:sldId id="259" r:id="rId5"/>
    <p:sldId id="260" r:id="rId6"/>
    <p:sldId id="261" r:id="rId7"/>
    <p:sldId id="262" r:id="rId8"/>
    <p:sldId id="266" r:id="rId9"/>
    <p:sldId id="277" r:id="rId10"/>
    <p:sldId id="276" r:id="rId11"/>
    <p:sldId id="275" r:id="rId12"/>
    <p:sldId id="267" r:id="rId13"/>
    <p:sldId id="268" r:id="rId14"/>
    <p:sldId id="269" r:id="rId15"/>
    <p:sldId id="271" r:id="rId16"/>
    <p:sldId id="272" r:id="rId17"/>
    <p:sldId id="274" r:id="rId18"/>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6BB88-A978-5DA2-0978-26EE41075B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16640E8-65CE-B5D2-7933-C1FDEB0176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8DBC018-C98B-06C6-F37D-A39DE3A5A9DF}"/>
              </a:ext>
            </a:extLst>
          </p:cNvPr>
          <p:cNvSpPr>
            <a:spLocks noGrp="1"/>
          </p:cNvSpPr>
          <p:nvPr>
            <p:ph type="dt" sz="half" idx="10"/>
          </p:nvPr>
        </p:nvSpPr>
        <p:spPr/>
        <p:txBody>
          <a:bodyPr/>
          <a:lstStyle/>
          <a:p>
            <a:fld id="{BAED45AF-337A-4305-9B00-C7980A63232C}" type="datetimeFigureOut">
              <a:rPr lang="en-IN" smtClean="0"/>
              <a:t>08-04-2026</a:t>
            </a:fld>
            <a:endParaRPr lang="en-IN"/>
          </a:p>
        </p:txBody>
      </p:sp>
      <p:sp>
        <p:nvSpPr>
          <p:cNvPr id="5" name="Footer Placeholder 4">
            <a:extLst>
              <a:ext uri="{FF2B5EF4-FFF2-40B4-BE49-F238E27FC236}">
                <a16:creationId xmlns:a16="http://schemas.microsoft.com/office/drawing/2014/main" id="{956B0785-16F4-08A0-2565-1273377C03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46CBB8-CDDF-2AFE-302C-F4C7ED5C3309}"/>
              </a:ext>
            </a:extLst>
          </p:cNvPr>
          <p:cNvSpPr>
            <a:spLocks noGrp="1"/>
          </p:cNvSpPr>
          <p:nvPr>
            <p:ph type="sldNum" sz="quarter" idx="12"/>
          </p:nvPr>
        </p:nvSpPr>
        <p:spPr/>
        <p:txBody>
          <a:bodyPr/>
          <a:lstStyle/>
          <a:p>
            <a:fld id="{A0F22A3A-FF56-4995-AF94-FF53EED92F28}" type="slidenum">
              <a:rPr lang="en-IN" smtClean="0"/>
              <a:t>‹#›</a:t>
            </a:fld>
            <a:endParaRPr lang="en-IN"/>
          </a:p>
        </p:txBody>
      </p:sp>
    </p:spTree>
    <p:extLst>
      <p:ext uri="{BB962C8B-B14F-4D97-AF65-F5344CB8AC3E}">
        <p14:creationId xmlns:p14="http://schemas.microsoft.com/office/powerpoint/2010/main" val="561797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AE69D-9091-5C6D-8607-06597EC224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67639B-C5EC-F84F-EA44-B4899B4642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48F0B0-7EAB-1459-E362-E8B0C9F8D211}"/>
              </a:ext>
            </a:extLst>
          </p:cNvPr>
          <p:cNvSpPr>
            <a:spLocks noGrp="1"/>
          </p:cNvSpPr>
          <p:nvPr>
            <p:ph type="dt" sz="half" idx="10"/>
          </p:nvPr>
        </p:nvSpPr>
        <p:spPr/>
        <p:txBody>
          <a:bodyPr/>
          <a:lstStyle/>
          <a:p>
            <a:fld id="{BAED45AF-337A-4305-9B00-C7980A63232C}" type="datetimeFigureOut">
              <a:rPr lang="en-IN" smtClean="0"/>
              <a:t>08-04-2026</a:t>
            </a:fld>
            <a:endParaRPr lang="en-IN"/>
          </a:p>
        </p:txBody>
      </p:sp>
      <p:sp>
        <p:nvSpPr>
          <p:cNvPr id="5" name="Footer Placeholder 4">
            <a:extLst>
              <a:ext uri="{FF2B5EF4-FFF2-40B4-BE49-F238E27FC236}">
                <a16:creationId xmlns:a16="http://schemas.microsoft.com/office/drawing/2014/main" id="{50CB6845-A881-6D18-C8E9-2F82FB50C9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5BD66B-6D42-8D65-0B25-77C95732E9E4}"/>
              </a:ext>
            </a:extLst>
          </p:cNvPr>
          <p:cNvSpPr>
            <a:spLocks noGrp="1"/>
          </p:cNvSpPr>
          <p:nvPr>
            <p:ph type="sldNum" sz="quarter" idx="12"/>
          </p:nvPr>
        </p:nvSpPr>
        <p:spPr/>
        <p:txBody>
          <a:bodyPr/>
          <a:lstStyle/>
          <a:p>
            <a:fld id="{A0F22A3A-FF56-4995-AF94-FF53EED92F28}" type="slidenum">
              <a:rPr lang="en-IN" smtClean="0"/>
              <a:t>‹#›</a:t>
            </a:fld>
            <a:endParaRPr lang="en-IN"/>
          </a:p>
        </p:txBody>
      </p:sp>
    </p:spTree>
    <p:extLst>
      <p:ext uri="{BB962C8B-B14F-4D97-AF65-F5344CB8AC3E}">
        <p14:creationId xmlns:p14="http://schemas.microsoft.com/office/powerpoint/2010/main" val="1055396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1BE66-3FE8-CDA9-57EF-72FAD5D44A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E395685-8383-2CBE-77E5-50518C348C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2DC09C-75A7-0622-42DB-B09A6D1F6989}"/>
              </a:ext>
            </a:extLst>
          </p:cNvPr>
          <p:cNvSpPr>
            <a:spLocks noGrp="1"/>
          </p:cNvSpPr>
          <p:nvPr>
            <p:ph type="dt" sz="half" idx="10"/>
          </p:nvPr>
        </p:nvSpPr>
        <p:spPr/>
        <p:txBody>
          <a:bodyPr/>
          <a:lstStyle/>
          <a:p>
            <a:fld id="{BAED45AF-337A-4305-9B00-C7980A63232C}" type="datetimeFigureOut">
              <a:rPr lang="en-IN" smtClean="0"/>
              <a:t>08-04-2026</a:t>
            </a:fld>
            <a:endParaRPr lang="en-IN"/>
          </a:p>
        </p:txBody>
      </p:sp>
      <p:sp>
        <p:nvSpPr>
          <p:cNvPr id="5" name="Footer Placeholder 4">
            <a:extLst>
              <a:ext uri="{FF2B5EF4-FFF2-40B4-BE49-F238E27FC236}">
                <a16:creationId xmlns:a16="http://schemas.microsoft.com/office/drawing/2014/main" id="{693A70D0-1081-45D3-1EC5-1F61970A3B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DD5CE3-51AD-C309-A591-9B9F45F66B69}"/>
              </a:ext>
            </a:extLst>
          </p:cNvPr>
          <p:cNvSpPr>
            <a:spLocks noGrp="1"/>
          </p:cNvSpPr>
          <p:nvPr>
            <p:ph type="sldNum" sz="quarter" idx="12"/>
          </p:nvPr>
        </p:nvSpPr>
        <p:spPr/>
        <p:txBody>
          <a:bodyPr/>
          <a:lstStyle/>
          <a:p>
            <a:fld id="{A0F22A3A-FF56-4995-AF94-FF53EED92F28}" type="slidenum">
              <a:rPr lang="en-IN" smtClean="0"/>
              <a:t>‹#›</a:t>
            </a:fld>
            <a:endParaRPr lang="en-IN"/>
          </a:p>
        </p:txBody>
      </p:sp>
    </p:spTree>
    <p:extLst>
      <p:ext uri="{BB962C8B-B14F-4D97-AF65-F5344CB8AC3E}">
        <p14:creationId xmlns:p14="http://schemas.microsoft.com/office/powerpoint/2010/main" val="3406234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66CBB-5997-A1B9-37D3-12798B638F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8D2C18-D27F-9855-27C5-1FE97628FE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9A18AA-777B-A505-487C-707DB32DF5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296079F-832D-BC43-1AA7-8C32C90F0C84}"/>
              </a:ext>
            </a:extLst>
          </p:cNvPr>
          <p:cNvSpPr>
            <a:spLocks noGrp="1"/>
          </p:cNvSpPr>
          <p:nvPr>
            <p:ph type="dt" sz="half" idx="10"/>
          </p:nvPr>
        </p:nvSpPr>
        <p:spPr/>
        <p:txBody>
          <a:bodyPr/>
          <a:lstStyle/>
          <a:p>
            <a:fld id="{BAED45AF-337A-4305-9B00-C7980A63232C}" type="datetimeFigureOut">
              <a:rPr lang="en-IN" smtClean="0"/>
              <a:t>08-04-2026</a:t>
            </a:fld>
            <a:endParaRPr lang="en-IN"/>
          </a:p>
        </p:txBody>
      </p:sp>
      <p:sp>
        <p:nvSpPr>
          <p:cNvPr id="6" name="Footer Placeholder 5">
            <a:extLst>
              <a:ext uri="{FF2B5EF4-FFF2-40B4-BE49-F238E27FC236}">
                <a16:creationId xmlns:a16="http://schemas.microsoft.com/office/drawing/2014/main" id="{A91AD01A-DA35-7038-906F-408756BA5E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DB3D14-0297-A932-5E95-13978ED88622}"/>
              </a:ext>
            </a:extLst>
          </p:cNvPr>
          <p:cNvSpPr>
            <a:spLocks noGrp="1"/>
          </p:cNvSpPr>
          <p:nvPr>
            <p:ph type="sldNum" sz="quarter" idx="12"/>
          </p:nvPr>
        </p:nvSpPr>
        <p:spPr/>
        <p:txBody>
          <a:bodyPr/>
          <a:lstStyle/>
          <a:p>
            <a:fld id="{A0F22A3A-FF56-4995-AF94-FF53EED92F28}" type="slidenum">
              <a:rPr lang="en-IN" smtClean="0"/>
              <a:t>‹#›</a:t>
            </a:fld>
            <a:endParaRPr lang="en-IN"/>
          </a:p>
        </p:txBody>
      </p:sp>
    </p:spTree>
    <p:extLst>
      <p:ext uri="{BB962C8B-B14F-4D97-AF65-F5344CB8AC3E}">
        <p14:creationId xmlns:p14="http://schemas.microsoft.com/office/powerpoint/2010/main" val="449021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D4BD3-D051-FE30-A716-95E3D1C94E7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0A65DD-E059-5C0C-7A4F-271A00BF40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A885D5-E7DE-1BE8-0F18-0BA23F7839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D24E3E4-B44C-0514-5208-723DD4866D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9435DF-3601-1790-77BE-31BA96C8EF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9D837AC-A816-9A8F-304A-608911AC322F}"/>
              </a:ext>
            </a:extLst>
          </p:cNvPr>
          <p:cNvSpPr>
            <a:spLocks noGrp="1"/>
          </p:cNvSpPr>
          <p:nvPr>
            <p:ph type="dt" sz="half" idx="10"/>
          </p:nvPr>
        </p:nvSpPr>
        <p:spPr/>
        <p:txBody>
          <a:bodyPr/>
          <a:lstStyle/>
          <a:p>
            <a:fld id="{BAED45AF-337A-4305-9B00-C7980A63232C}" type="datetimeFigureOut">
              <a:rPr lang="en-IN" smtClean="0"/>
              <a:t>08-04-2026</a:t>
            </a:fld>
            <a:endParaRPr lang="en-IN"/>
          </a:p>
        </p:txBody>
      </p:sp>
      <p:sp>
        <p:nvSpPr>
          <p:cNvPr id="8" name="Footer Placeholder 7">
            <a:extLst>
              <a:ext uri="{FF2B5EF4-FFF2-40B4-BE49-F238E27FC236}">
                <a16:creationId xmlns:a16="http://schemas.microsoft.com/office/drawing/2014/main" id="{3214F669-2A5F-438A-8336-BF3FA724961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99489D9-7581-2B9B-DB83-8DC8DCC96E0D}"/>
              </a:ext>
            </a:extLst>
          </p:cNvPr>
          <p:cNvSpPr>
            <a:spLocks noGrp="1"/>
          </p:cNvSpPr>
          <p:nvPr>
            <p:ph type="sldNum" sz="quarter" idx="12"/>
          </p:nvPr>
        </p:nvSpPr>
        <p:spPr/>
        <p:txBody>
          <a:bodyPr/>
          <a:lstStyle/>
          <a:p>
            <a:fld id="{A0F22A3A-FF56-4995-AF94-FF53EED92F28}" type="slidenum">
              <a:rPr lang="en-IN" smtClean="0"/>
              <a:t>‹#›</a:t>
            </a:fld>
            <a:endParaRPr lang="en-IN"/>
          </a:p>
        </p:txBody>
      </p:sp>
    </p:spTree>
    <p:extLst>
      <p:ext uri="{BB962C8B-B14F-4D97-AF65-F5344CB8AC3E}">
        <p14:creationId xmlns:p14="http://schemas.microsoft.com/office/powerpoint/2010/main" val="2983369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768ED-FB5F-9B1E-40B0-AEE954428E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6328C8B-DC19-4234-16A4-09972EF3FA91}"/>
              </a:ext>
            </a:extLst>
          </p:cNvPr>
          <p:cNvSpPr>
            <a:spLocks noGrp="1"/>
          </p:cNvSpPr>
          <p:nvPr>
            <p:ph type="dt" sz="half" idx="10"/>
          </p:nvPr>
        </p:nvSpPr>
        <p:spPr/>
        <p:txBody>
          <a:bodyPr/>
          <a:lstStyle/>
          <a:p>
            <a:fld id="{BAED45AF-337A-4305-9B00-C7980A63232C}" type="datetimeFigureOut">
              <a:rPr lang="en-IN" smtClean="0"/>
              <a:t>08-04-2026</a:t>
            </a:fld>
            <a:endParaRPr lang="en-IN"/>
          </a:p>
        </p:txBody>
      </p:sp>
      <p:sp>
        <p:nvSpPr>
          <p:cNvPr id="4" name="Footer Placeholder 3">
            <a:extLst>
              <a:ext uri="{FF2B5EF4-FFF2-40B4-BE49-F238E27FC236}">
                <a16:creationId xmlns:a16="http://schemas.microsoft.com/office/drawing/2014/main" id="{5BDD0B94-BA4D-0C36-1E6E-6E4D58C082F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8BEA6DB-1DA6-3436-259F-E9D7260891EB}"/>
              </a:ext>
            </a:extLst>
          </p:cNvPr>
          <p:cNvSpPr>
            <a:spLocks noGrp="1"/>
          </p:cNvSpPr>
          <p:nvPr>
            <p:ph type="sldNum" sz="quarter" idx="12"/>
          </p:nvPr>
        </p:nvSpPr>
        <p:spPr/>
        <p:txBody>
          <a:bodyPr/>
          <a:lstStyle/>
          <a:p>
            <a:fld id="{A0F22A3A-FF56-4995-AF94-FF53EED92F28}" type="slidenum">
              <a:rPr lang="en-IN" smtClean="0"/>
              <a:t>‹#›</a:t>
            </a:fld>
            <a:endParaRPr lang="en-IN"/>
          </a:p>
        </p:txBody>
      </p:sp>
    </p:spTree>
    <p:extLst>
      <p:ext uri="{BB962C8B-B14F-4D97-AF65-F5344CB8AC3E}">
        <p14:creationId xmlns:p14="http://schemas.microsoft.com/office/powerpoint/2010/main" val="1518778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C507A4-8F48-7F5C-22C9-2872754F1F38}"/>
              </a:ext>
            </a:extLst>
          </p:cNvPr>
          <p:cNvSpPr>
            <a:spLocks noGrp="1"/>
          </p:cNvSpPr>
          <p:nvPr>
            <p:ph type="dt" sz="half" idx="10"/>
          </p:nvPr>
        </p:nvSpPr>
        <p:spPr/>
        <p:txBody>
          <a:bodyPr/>
          <a:lstStyle/>
          <a:p>
            <a:fld id="{BAED45AF-337A-4305-9B00-C7980A63232C}" type="datetimeFigureOut">
              <a:rPr lang="en-IN" smtClean="0"/>
              <a:t>08-04-2026</a:t>
            </a:fld>
            <a:endParaRPr lang="en-IN"/>
          </a:p>
        </p:txBody>
      </p:sp>
      <p:sp>
        <p:nvSpPr>
          <p:cNvPr id="3" name="Footer Placeholder 2">
            <a:extLst>
              <a:ext uri="{FF2B5EF4-FFF2-40B4-BE49-F238E27FC236}">
                <a16:creationId xmlns:a16="http://schemas.microsoft.com/office/drawing/2014/main" id="{B7FF17BA-3865-10E8-7607-070861AA048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EFCD15A-5FCD-3B6B-70CE-8A48FA7BE288}"/>
              </a:ext>
            </a:extLst>
          </p:cNvPr>
          <p:cNvSpPr>
            <a:spLocks noGrp="1"/>
          </p:cNvSpPr>
          <p:nvPr>
            <p:ph type="sldNum" sz="quarter" idx="12"/>
          </p:nvPr>
        </p:nvSpPr>
        <p:spPr/>
        <p:txBody>
          <a:bodyPr/>
          <a:lstStyle/>
          <a:p>
            <a:fld id="{A0F22A3A-FF56-4995-AF94-FF53EED92F28}" type="slidenum">
              <a:rPr lang="en-IN" smtClean="0"/>
              <a:t>‹#›</a:t>
            </a:fld>
            <a:endParaRPr lang="en-IN"/>
          </a:p>
        </p:txBody>
      </p:sp>
    </p:spTree>
    <p:extLst>
      <p:ext uri="{BB962C8B-B14F-4D97-AF65-F5344CB8AC3E}">
        <p14:creationId xmlns:p14="http://schemas.microsoft.com/office/powerpoint/2010/main" val="1557107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22D30-3427-65DE-BEE0-91B63508E4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C58B959-955A-B03E-ED4E-D11E0DF7AC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A95D296-BF1A-D326-02EA-F00DD9F435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70B657-E4BD-6046-EE11-E469AA5DBE41}"/>
              </a:ext>
            </a:extLst>
          </p:cNvPr>
          <p:cNvSpPr>
            <a:spLocks noGrp="1"/>
          </p:cNvSpPr>
          <p:nvPr>
            <p:ph type="dt" sz="half" idx="10"/>
          </p:nvPr>
        </p:nvSpPr>
        <p:spPr/>
        <p:txBody>
          <a:bodyPr/>
          <a:lstStyle/>
          <a:p>
            <a:fld id="{BAED45AF-337A-4305-9B00-C7980A63232C}" type="datetimeFigureOut">
              <a:rPr lang="en-IN" smtClean="0"/>
              <a:t>08-04-2026</a:t>
            </a:fld>
            <a:endParaRPr lang="en-IN"/>
          </a:p>
        </p:txBody>
      </p:sp>
      <p:sp>
        <p:nvSpPr>
          <p:cNvPr id="6" name="Footer Placeholder 5">
            <a:extLst>
              <a:ext uri="{FF2B5EF4-FFF2-40B4-BE49-F238E27FC236}">
                <a16:creationId xmlns:a16="http://schemas.microsoft.com/office/drawing/2014/main" id="{41D52434-9D75-1BC7-2EE3-A7798E19DE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5F92A9-AECA-5C32-57D9-F85AF4D449D4}"/>
              </a:ext>
            </a:extLst>
          </p:cNvPr>
          <p:cNvSpPr>
            <a:spLocks noGrp="1"/>
          </p:cNvSpPr>
          <p:nvPr>
            <p:ph type="sldNum" sz="quarter" idx="12"/>
          </p:nvPr>
        </p:nvSpPr>
        <p:spPr/>
        <p:txBody>
          <a:bodyPr/>
          <a:lstStyle/>
          <a:p>
            <a:fld id="{A0F22A3A-FF56-4995-AF94-FF53EED92F28}" type="slidenum">
              <a:rPr lang="en-IN" smtClean="0"/>
              <a:t>‹#›</a:t>
            </a:fld>
            <a:endParaRPr lang="en-IN"/>
          </a:p>
        </p:txBody>
      </p:sp>
    </p:spTree>
    <p:extLst>
      <p:ext uri="{BB962C8B-B14F-4D97-AF65-F5344CB8AC3E}">
        <p14:creationId xmlns:p14="http://schemas.microsoft.com/office/powerpoint/2010/main" val="3705817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32886-67EF-FA4D-CF45-312C27036A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336329B-5CBA-28AD-48DC-01543D138D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270B283-F14E-C38B-E174-E662A5C41C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BE4E02-5857-801D-170C-6073CFACE5CA}"/>
              </a:ext>
            </a:extLst>
          </p:cNvPr>
          <p:cNvSpPr>
            <a:spLocks noGrp="1"/>
          </p:cNvSpPr>
          <p:nvPr>
            <p:ph type="dt" sz="half" idx="10"/>
          </p:nvPr>
        </p:nvSpPr>
        <p:spPr/>
        <p:txBody>
          <a:bodyPr/>
          <a:lstStyle/>
          <a:p>
            <a:fld id="{BAED45AF-337A-4305-9B00-C7980A63232C}" type="datetimeFigureOut">
              <a:rPr lang="en-IN" smtClean="0"/>
              <a:t>08-04-2026</a:t>
            </a:fld>
            <a:endParaRPr lang="en-IN"/>
          </a:p>
        </p:txBody>
      </p:sp>
      <p:sp>
        <p:nvSpPr>
          <p:cNvPr id="6" name="Footer Placeholder 5">
            <a:extLst>
              <a:ext uri="{FF2B5EF4-FFF2-40B4-BE49-F238E27FC236}">
                <a16:creationId xmlns:a16="http://schemas.microsoft.com/office/drawing/2014/main" id="{E506E241-2ED7-2F57-3B81-FD297D53BC2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7EAC12-2FBF-B8CE-669A-30F678DFD71F}"/>
              </a:ext>
            </a:extLst>
          </p:cNvPr>
          <p:cNvSpPr>
            <a:spLocks noGrp="1"/>
          </p:cNvSpPr>
          <p:nvPr>
            <p:ph type="sldNum" sz="quarter" idx="12"/>
          </p:nvPr>
        </p:nvSpPr>
        <p:spPr/>
        <p:txBody>
          <a:bodyPr/>
          <a:lstStyle/>
          <a:p>
            <a:fld id="{A0F22A3A-FF56-4995-AF94-FF53EED92F28}" type="slidenum">
              <a:rPr lang="en-IN" smtClean="0"/>
              <a:t>‹#›</a:t>
            </a:fld>
            <a:endParaRPr lang="en-IN"/>
          </a:p>
        </p:txBody>
      </p:sp>
    </p:spTree>
    <p:extLst>
      <p:ext uri="{BB962C8B-B14F-4D97-AF65-F5344CB8AC3E}">
        <p14:creationId xmlns:p14="http://schemas.microsoft.com/office/powerpoint/2010/main" val="2739040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7D01B-C7F8-40D5-C3FC-D7D22D6D3BB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3C8DF6-2A69-ABE0-13B6-174D157202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8A56DE-056E-679F-2980-E2A27665B355}"/>
              </a:ext>
            </a:extLst>
          </p:cNvPr>
          <p:cNvSpPr>
            <a:spLocks noGrp="1"/>
          </p:cNvSpPr>
          <p:nvPr>
            <p:ph type="dt" sz="half" idx="10"/>
          </p:nvPr>
        </p:nvSpPr>
        <p:spPr/>
        <p:txBody>
          <a:bodyPr/>
          <a:lstStyle/>
          <a:p>
            <a:fld id="{BAED45AF-337A-4305-9B00-C7980A63232C}" type="datetimeFigureOut">
              <a:rPr lang="en-IN" smtClean="0"/>
              <a:t>08-04-2026</a:t>
            </a:fld>
            <a:endParaRPr lang="en-IN"/>
          </a:p>
        </p:txBody>
      </p:sp>
      <p:sp>
        <p:nvSpPr>
          <p:cNvPr id="5" name="Footer Placeholder 4">
            <a:extLst>
              <a:ext uri="{FF2B5EF4-FFF2-40B4-BE49-F238E27FC236}">
                <a16:creationId xmlns:a16="http://schemas.microsoft.com/office/drawing/2014/main" id="{494C375F-1419-2ED8-E79B-5F7E89D93D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C3C3B1-FEA8-D1DF-926A-C76E4DC1AC9A}"/>
              </a:ext>
            </a:extLst>
          </p:cNvPr>
          <p:cNvSpPr>
            <a:spLocks noGrp="1"/>
          </p:cNvSpPr>
          <p:nvPr>
            <p:ph type="sldNum" sz="quarter" idx="12"/>
          </p:nvPr>
        </p:nvSpPr>
        <p:spPr/>
        <p:txBody>
          <a:bodyPr/>
          <a:lstStyle/>
          <a:p>
            <a:fld id="{A0F22A3A-FF56-4995-AF94-FF53EED92F28}" type="slidenum">
              <a:rPr lang="en-IN" smtClean="0"/>
              <a:t>‹#›</a:t>
            </a:fld>
            <a:endParaRPr lang="en-IN"/>
          </a:p>
        </p:txBody>
      </p:sp>
    </p:spTree>
    <p:extLst>
      <p:ext uri="{BB962C8B-B14F-4D97-AF65-F5344CB8AC3E}">
        <p14:creationId xmlns:p14="http://schemas.microsoft.com/office/powerpoint/2010/main" val="2545691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E736FC-1F9C-A69B-EEF2-F64B6257083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49DC0C-1E3B-C744-2F86-719CB3768D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65D7DB-028A-9D5F-9D14-C4EBD575E084}"/>
              </a:ext>
            </a:extLst>
          </p:cNvPr>
          <p:cNvSpPr>
            <a:spLocks noGrp="1"/>
          </p:cNvSpPr>
          <p:nvPr>
            <p:ph type="dt" sz="half" idx="10"/>
          </p:nvPr>
        </p:nvSpPr>
        <p:spPr/>
        <p:txBody>
          <a:bodyPr/>
          <a:lstStyle/>
          <a:p>
            <a:fld id="{BAED45AF-337A-4305-9B00-C7980A63232C}" type="datetimeFigureOut">
              <a:rPr lang="en-IN" smtClean="0"/>
              <a:t>08-04-2026</a:t>
            </a:fld>
            <a:endParaRPr lang="en-IN"/>
          </a:p>
        </p:txBody>
      </p:sp>
      <p:sp>
        <p:nvSpPr>
          <p:cNvPr id="5" name="Footer Placeholder 4">
            <a:extLst>
              <a:ext uri="{FF2B5EF4-FFF2-40B4-BE49-F238E27FC236}">
                <a16:creationId xmlns:a16="http://schemas.microsoft.com/office/drawing/2014/main" id="{107EFF69-D2AF-B994-B852-C36C8C4487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CB3B5E-F91E-BDAC-7815-8EF1753A116B}"/>
              </a:ext>
            </a:extLst>
          </p:cNvPr>
          <p:cNvSpPr>
            <a:spLocks noGrp="1"/>
          </p:cNvSpPr>
          <p:nvPr>
            <p:ph type="sldNum" sz="quarter" idx="12"/>
          </p:nvPr>
        </p:nvSpPr>
        <p:spPr/>
        <p:txBody>
          <a:bodyPr/>
          <a:lstStyle/>
          <a:p>
            <a:fld id="{A0F22A3A-FF56-4995-AF94-FF53EED92F28}" type="slidenum">
              <a:rPr lang="en-IN" smtClean="0"/>
              <a:t>‹#›</a:t>
            </a:fld>
            <a:endParaRPr lang="en-IN"/>
          </a:p>
        </p:txBody>
      </p:sp>
    </p:spTree>
    <p:extLst>
      <p:ext uri="{BB962C8B-B14F-4D97-AF65-F5344CB8AC3E}">
        <p14:creationId xmlns:p14="http://schemas.microsoft.com/office/powerpoint/2010/main" val="2121894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5F4D1F-A907-950B-469C-BBF804D9B9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0A460B-CC30-6ACB-7568-E9FC16DD08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50CB58-6460-558A-26B3-374F98A374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ED45AF-337A-4305-9B00-C7980A63232C}" type="datetimeFigureOut">
              <a:rPr lang="en-IN" smtClean="0"/>
              <a:t>08-04-2026</a:t>
            </a:fld>
            <a:endParaRPr lang="en-IN"/>
          </a:p>
        </p:txBody>
      </p:sp>
      <p:sp>
        <p:nvSpPr>
          <p:cNvPr id="5" name="Footer Placeholder 4">
            <a:extLst>
              <a:ext uri="{FF2B5EF4-FFF2-40B4-BE49-F238E27FC236}">
                <a16:creationId xmlns:a16="http://schemas.microsoft.com/office/drawing/2014/main" id="{77558939-F55F-3E87-CDEA-A27BFB1D9F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BF5A393-65DF-9113-D141-93750550A2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F22A3A-FF56-4995-AF94-FF53EED92F28}" type="slidenum">
              <a:rPr lang="en-IN" smtClean="0"/>
              <a:t>‹#›</a:t>
            </a:fld>
            <a:endParaRPr lang="en-IN"/>
          </a:p>
        </p:txBody>
      </p:sp>
    </p:spTree>
    <p:extLst>
      <p:ext uri="{BB962C8B-B14F-4D97-AF65-F5344CB8AC3E}">
        <p14:creationId xmlns:p14="http://schemas.microsoft.com/office/powerpoint/2010/main" val="934848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physionet.org/content/nifecgdb/1.0.0/"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AEBA4-7AF5-3AE7-9B1A-A524FA99ED3E}"/>
              </a:ext>
            </a:extLst>
          </p:cNvPr>
          <p:cNvSpPr>
            <a:spLocks noGrp="1"/>
          </p:cNvSpPr>
          <p:nvPr>
            <p:ph type="ctrTitle"/>
          </p:nvPr>
        </p:nvSpPr>
        <p:spPr>
          <a:xfrm>
            <a:off x="306926" y="1269825"/>
            <a:ext cx="11568223" cy="1811905"/>
          </a:xfrm>
        </p:spPr>
        <p:txBody>
          <a:bodyPr>
            <a:noAutofit/>
          </a:bodyPr>
          <a:lstStyle/>
          <a:p>
            <a:r>
              <a:rPr lang="en-US" sz="4000" dirty="0"/>
              <a:t>AI-BASED TUTOR FOR VISUALLY IMPAIRED STUDENTS</a:t>
            </a:r>
            <a:endParaRPr lang="en-IN"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AD267ED-6CCB-7281-FB5B-AD23ABB31171}"/>
              </a:ext>
            </a:extLst>
          </p:cNvPr>
          <p:cNvSpPr>
            <a:spLocks noGrp="1"/>
          </p:cNvSpPr>
          <p:nvPr>
            <p:ph type="subTitle" idx="1"/>
          </p:nvPr>
        </p:nvSpPr>
        <p:spPr>
          <a:xfrm>
            <a:off x="101600" y="0"/>
            <a:ext cx="11998960" cy="1229360"/>
          </a:xfrm>
        </p:spPr>
        <p:txBody>
          <a:bodyPr>
            <a:noAutofit/>
          </a:bodyPr>
          <a:lstStyle/>
          <a:p>
            <a:endParaRPr lang="en-IN" sz="16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F8254A15-3043-AD7C-763F-AD20D0C89879}"/>
              </a:ext>
            </a:extLst>
          </p:cNvPr>
          <p:cNvCxnSpPr>
            <a:cxnSpLocks/>
          </p:cNvCxnSpPr>
          <p:nvPr/>
        </p:nvCxnSpPr>
        <p:spPr>
          <a:xfrm>
            <a:off x="-81516" y="148336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6FA99F66-04F1-ACA4-70F7-FFFB809D207D}"/>
              </a:ext>
            </a:extLst>
          </p:cNvPr>
          <p:cNvSpPr txBox="1">
            <a:spLocks/>
          </p:cNvSpPr>
          <p:nvPr/>
        </p:nvSpPr>
        <p:spPr>
          <a:xfrm>
            <a:off x="1524000" y="2966720"/>
            <a:ext cx="9144000" cy="9245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IN" sz="4400" dirty="0"/>
          </a:p>
        </p:txBody>
      </p:sp>
      <p:sp>
        <p:nvSpPr>
          <p:cNvPr id="8" name="Subtitle 2">
            <a:extLst>
              <a:ext uri="{FF2B5EF4-FFF2-40B4-BE49-F238E27FC236}">
                <a16:creationId xmlns:a16="http://schemas.microsoft.com/office/drawing/2014/main" id="{12AFB1BE-E65C-4706-1B50-13730B081150}"/>
              </a:ext>
            </a:extLst>
          </p:cNvPr>
          <p:cNvSpPr txBox="1">
            <a:spLocks/>
          </p:cNvSpPr>
          <p:nvPr/>
        </p:nvSpPr>
        <p:spPr>
          <a:xfrm>
            <a:off x="5080" y="3943793"/>
            <a:ext cx="12192000" cy="122936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500" dirty="0">
                <a:latin typeface="Times New Roman" panose="02020603050405020304" pitchFamily="18" charset="0"/>
                <a:cs typeface="Times New Roman" panose="02020603050405020304" pitchFamily="18" charset="0"/>
              </a:rPr>
              <a:t>Presented By</a:t>
            </a:r>
          </a:p>
          <a:p>
            <a:r>
              <a:rPr lang="en-IN" sz="2800" dirty="0"/>
              <a:t>M.NITHEESH KUMAR ,R.DHANVANTHRI , R.NITHISH SELVAM , M.PUGALENTHI </a:t>
            </a:r>
            <a:r>
              <a:rPr lang="en-US" sz="2500" dirty="0" err="1">
                <a:latin typeface="Times New Roman" panose="02020603050405020304" pitchFamily="18" charset="0"/>
                <a:cs typeface="Times New Roman" panose="02020603050405020304" pitchFamily="18" charset="0"/>
              </a:rPr>
              <a:t>Kalasalingam</a:t>
            </a:r>
            <a:r>
              <a:rPr lang="en-US" sz="2500" dirty="0">
                <a:latin typeface="Times New Roman" panose="02020603050405020304" pitchFamily="18" charset="0"/>
                <a:cs typeface="Times New Roman" panose="02020603050405020304" pitchFamily="18" charset="0"/>
              </a:rPr>
              <a:t> Academy of Research and Education</a:t>
            </a:r>
            <a:endParaRPr lang="en-IN" sz="1600" dirty="0">
              <a:latin typeface="Times New Roman" panose="02020603050405020304" pitchFamily="18" charset="0"/>
              <a:cs typeface="Times New Roman" panose="02020603050405020304" pitchFamily="18" charset="0"/>
            </a:endParaRPr>
          </a:p>
        </p:txBody>
      </p:sp>
      <p:pic>
        <p:nvPicPr>
          <p:cNvPr id="4" name="image2.png">
            <a:extLst>
              <a:ext uri="{FF2B5EF4-FFF2-40B4-BE49-F238E27FC236}">
                <a16:creationId xmlns:a16="http://schemas.microsoft.com/office/drawing/2014/main" id="{F4608A3F-9905-1F1D-34E4-C97E7ED0611C}"/>
              </a:ext>
            </a:extLst>
          </p:cNvPr>
          <p:cNvPicPr/>
          <p:nvPr/>
        </p:nvPicPr>
        <p:blipFill>
          <a:blip r:embed="rId2"/>
          <a:srcRect/>
          <a:stretch>
            <a:fillRect/>
          </a:stretch>
        </p:blipFill>
        <p:spPr>
          <a:xfrm>
            <a:off x="-9924" y="0"/>
            <a:ext cx="12201924" cy="1489977"/>
          </a:xfrm>
          <a:prstGeom prst="rect">
            <a:avLst/>
          </a:prstGeom>
        </p:spPr>
      </p:pic>
      <p:sp>
        <p:nvSpPr>
          <p:cNvPr id="6" name="TextBox 5">
            <a:extLst>
              <a:ext uri="{FF2B5EF4-FFF2-40B4-BE49-F238E27FC236}">
                <a16:creationId xmlns:a16="http://schemas.microsoft.com/office/drawing/2014/main" id="{BDB6AE77-0BE3-7D70-2E38-7B756E8CCD4B}"/>
              </a:ext>
            </a:extLst>
          </p:cNvPr>
          <p:cNvSpPr txBox="1"/>
          <p:nvPr/>
        </p:nvSpPr>
        <p:spPr>
          <a:xfrm>
            <a:off x="9505507" y="5712050"/>
            <a:ext cx="2369642"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Project Guide:</a:t>
            </a:r>
          </a:p>
          <a:p>
            <a:r>
              <a:rPr lang="en-US" dirty="0" err="1">
                <a:latin typeface="Times New Roman" panose="02020603050405020304" pitchFamily="18" charset="0"/>
                <a:cs typeface="Times New Roman" panose="02020603050405020304" pitchFamily="18" charset="0"/>
              </a:rPr>
              <a:t>Dr.M</a:t>
            </a:r>
            <a:r>
              <a:rPr lang="en-US" err="1">
                <a:latin typeface="Times New Roman" panose="02020603050405020304" pitchFamily="18" charset="0"/>
                <a:cs typeface="Times New Roman" panose="02020603050405020304" pitchFamily="18" charset="0"/>
              </a:rPr>
              <a:t>.</a:t>
            </a:r>
            <a:r>
              <a:rPr lang="en-US">
                <a:latin typeface="Times New Roman" panose="02020603050405020304" pitchFamily="18" charset="0"/>
                <a:cs typeface="Times New Roman" panose="02020603050405020304" pitchFamily="18" charset="0"/>
              </a:rPr>
              <a:t>Jayalakhsmi</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4234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7F9DB-C57D-643B-2231-8724D80EEB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D247FA-6D1A-6F37-39AE-6C0902A0B864}"/>
              </a:ext>
            </a:extLst>
          </p:cNvPr>
          <p:cNvSpPr>
            <a:spLocks noGrp="1"/>
          </p:cNvSpPr>
          <p:nvPr>
            <p:ph type="ctrTitle"/>
          </p:nvPr>
        </p:nvSpPr>
        <p:spPr>
          <a:xfrm>
            <a:off x="1311349" y="1229360"/>
            <a:ext cx="9144000" cy="924560"/>
          </a:xfrm>
        </p:spPr>
        <p:txBody>
          <a:bodyPr>
            <a:normAutofit/>
          </a:bodyPr>
          <a:lstStyle/>
          <a:p>
            <a:r>
              <a:rPr lang="en-US" sz="4400" dirty="0">
                <a:latin typeface="Times New Roman" panose="02020603050405020304" pitchFamily="18" charset="0"/>
                <a:cs typeface="Times New Roman" panose="02020603050405020304" pitchFamily="18" charset="0"/>
              </a:rPr>
              <a:t>Problem Statement</a:t>
            </a:r>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0B03D5B-0AEB-02AD-0C43-B7DC3DF2E228}"/>
              </a:ext>
            </a:extLst>
          </p:cNvPr>
          <p:cNvSpPr>
            <a:spLocks noGrp="1"/>
          </p:cNvSpPr>
          <p:nvPr>
            <p:ph type="subTitle" idx="1"/>
          </p:nvPr>
        </p:nvSpPr>
        <p:spPr>
          <a:xfrm>
            <a:off x="101600" y="0"/>
            <a:ext cx="11998960" cy="1229360"/>
          </a:xfrm>
        </p:spPr>
        <p:txBody>
          <a:bodyPr>
            <a:noAutofit/>
          </a:bodyPr>
          <a:lstStyle/>
          <a:p>
            <a:endParaRPr lang="en-IN" sz="16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1A0D1156-0C1C-F881-6373-2A5BCEDCBF2D}"/>
              </a:ext>
            </a:extLst>
          </p:cNvPr>
          <p:cNvCxnSpPr>
            <a:cxnSpLocks/>
          </p:cNvCxnSpPr>
          <p:nvPr/>
        </p:nvCxnSpPr>
        <p:spPr>
          <a:xfrm>
            <a:off x="0" y="148336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Subtitle 2">
            <a:extLst>
              <a:ext uri="{FF2B5EF4-FFF2-40B4-BE49-F238E27FC236}">
                <a16:creationId xmlns:a16="http://schemas.microsoft.com/office/drawing/2014/main" id="{CF78A296-CCBE-DFA4-B8A8-76CB6C3C60A6}"/>
              </a:ext>
            </a:extLst>
          </p:cNvPr>
          <p:cNvSpPr txBox="1">
            <a:spLocks/>
          </p:cNvSpPr>
          <p:nvPr/>
        </p:nvSpPr>
        <p:spPr>
          <a:xfrm>
            <a:off x="0" y="5262880"/>
            <a:ext cx="12192000" cy="122936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D0B50BE-86F6-0855-5E29-1FA55E9365A3}"/>
              </a:ext>
            </a:extLst>
          </p:cNvPr>
          <p:cNvSpPr txBox="1"/>
          <p:nvPr/>
        </p:nvSpPr>
        <p:spPr>
          <a:xfrm>
            <a:off x="519577" y="2393942"/>
            <a:ext cx="11142921" cy="420737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In today’s digital learning environment, most educational platforms and study materials are designed primarily for visually capable users, making them difficult for visually impaired students to access and understand independently.</a:t>
            </a:r>
          </a:p>
          <a:p>
            <a:pPr marL="285750" indent="-285750">
              <a:lnSpc>
                <a:spcPct val="150000"/>
              </a:lnSpc>
              <a:buFont typeface="Arial" panose="020B0604020202020204" pitchFamily="34" charset="0"/>
              <a:buChar char="•"/>
            </a:pPr>
            <a:r>
              <a:rPr lang="en-US" dirty="0"/>
              <a:t>Although assistive tools like screen readers are available, they only provide basic text reading functionality and lack intelligent interaction, contextual understanding, and personalized learning support.</a:t>
            </a:r>
          </a:p>
          <a:p>
            <a:pPr marL="285750" indent="-285750">
              <a:lnSpc>
                <a:spcPct val="150000"/>
              </a:lnSpc>
              <a:buFont typeface="Arial" panose="020B0604020202020204" pitchFamily="34" charset="0"/>
              <a:buChar char="•"/>
            </a:pPr>
            <a:r>
              <a:rPr lang="en-US" dirty="0"/>
              <a:t>As a result, visually impaired learners often depend on others to interpret educational content, which limits their independence, reduces learning efficiency, and affects their overall academic experience.</a:t>
            </a:r>
          </a:p>
          <a:p>
            <a:pPr marL="285750" indent="-285750">
              <a:lnSpc>
                <a:spcPct val="150000"/>
              </a:lnSpc>
              <a:buFont typeface="Arial" panose="020B0604020202020204" pitchFamily="34" charset="0"/>
              <a:buChar char="•"/>
            </a:pPr>
            <a:r>
              <a:rPr lang="en-US" dirty="0"/>
              <a:t>Therefore, there is a need for an intelligent, voice-based system that can not only read content but also understand user queries, explain concepts, summarize information, and provide an interactive learning experience for visually impaired students.</a:t>
            </a:r>
          </a:p>
        </p:txBody>
      </p:sp>
      <p:pic>
        <p:nvPicPr>
          <p:cNvPr id="4" name="image2.png">
            <a:extLst>
              <a:ext uri="{FF2B5EF4-FFF2-40B4-BE49-F238E27FC236}">
                <a16:creationId xmlns:a16="http://schemas.microsoft.com/office/drawing/2014/main" id="{A7632452-089C-61B2-7963-D729222CCF24}"/>
              </a:ext>
            </a:extLst>
          </p:cNvPr>
          <p:cNvPicPr/>
          <p:nvPr/>
        </p:nvPicPr>
        <p:blipFill>
          <a:blip r:embed="rId2"/>
          <a:srcRect/>
          <a:stretch>
            <a:fillRect/>
          </a:stretch>
        </p:blipFill>
        <p:spPr>
          <a:xfrm>
            <a:off x="-9924" y="0"/>
            <a:ext cx="12201924" cy="1489977"/>
          </a:xfrm>
          <a:prstGeom prst="rect">
            <a:avLst/>
          </a:prstGeom>
        </p:spPr>
      </p:pic>
    </p:spTree>
    <p:extLst>
      <p:ext uri="{BB962C8B-B14F-4D97-AF65-F5344CB8AC3E}">
        <p14:creationId xmlns:p14="http://schemas.microsoft.com/office/powerpoint/2010/main" val="3169098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E3B4A-B358-7144-AACD-3891A87E6E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C04156-3594-EEB9-288F-481AF65ADDBA}"/>
              </a:ext>
            </a:extLst>
          </p:cNvPr>
          <p:cNvSpPr>
            <a:spLocks noGrp="1"/>
          </p:cNvSpPr>
          <p:nvPr>
            <p:ph type="ctrTitle"/>
          </p:nvPr>
        </p:nvSpPr>
        <p:spPr>
          <a:xfrm>
            <a:off x="1311349" y="1229360"/>
            <a:ext cx="9144000" cy="924560"/>
          </a:xfrm>
        </p:spPr>
        <p:txBody>
          <a:bodyPr>
            <a:normAutofit/>
          </a:bodyPr>
          <a:lstStyle/>
          <a:p>
            <a:r>
              <a:rPr lang="en-US" sz="4400" dirty="0"/>
              <a:t>Literature Review</a:t>
            </a:r>
            <a:endParaRPr lang="en-IN" sz="4400" dirty="0"/>
          </a:p>
        </p:txBody>
      </p:sp>
      <p:sp>
        <p:nvSpPr>
          <p:cNvPr id="3" name="Subtitle 2">
            <a:extLst>
              <a:ext uri="{FF2B5EF4-FFF2-40B4-BE49-F238E27FC236}">
                <a16:creationId xmlns:a16="http://schemas.microsoft.com/office/drawing/2014/main" id="{7DD95089-4C9B-0F88-62C3-C6B0A6AF6721}"/>
              </a:ext>
            </a:extLst>
          </p:cNvPr>
          <p:cNvSpPr>
            <a:spLocks noGrp="1"/>
          </p:cNvSpPr>
          <p:nvPr>
            <p:ph type="subTitle" idx="1"/>
          </p:nvPr>
        </p:nvSpPr>
        <p:spPr>
          <a:xfrm>
            <a:off x="101600" y="0"/>
            <a:ext cx="11998960" cy="1229360"/>
          </a:xfrm>
        </p:spPr>
        <p:txBody>
          <a:bodyPr>
            <a:noAutofit/>
          </a:bodyPr>
          <a:lstStyle/>
          <a:p>
            <a:endParaRPr lang="en-IN" sz="16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01E5569E-BBE1-8539-B8AB-32E6DA95302E}"/>
              </a:ext>
            </a:extLst>
          </p:cNvPr>
          <p:cNvCxnSpPr>
            <a:cxnSpLocks/>
          </p:cNvCxnSpPr>
          <p:nvPr/>
        </p:nvCxnSpPr>
        <p:spPr>
          <a:xfrm>
            <a:off x="0" y="148336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Subtitle 2">
            <a:extLst>
              <a:ext uri="{FF2B5EF4-FFF2-40B4-BE49-F238E27FC236}">
                <a16:creationId xmlns:a16="http://schemas.microsoft.com/office/drawing/2014/main" id="{B014C3B0-8722-970D-6DFB-8B47B7B0FB18}"/>
              </a:ext>
            </a:extLst>
          </p:cNvPr>
          <p:cNvSpPr txBox="1">
            <a:spLocks/>
          </p:cNvSpPr>
          <p:nvPr/>
        </p:nvSpPr>
        <p:spPr>
          <a:xfrm>
            <a:off x="0" y="5262880"/>
            <a:ext cx="12192000" cy="122936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1600"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6868C57D-47AC-B29A-B8F3-8206A2605855}"/>
              </a:ext>
            </a:extLst>
          </p:cNvPr>
          <p:cNvGraphicFramePr>
            <a:graphicFrameLocks noGrp="1"/>
          </p:cNvGraphicFramePr>
          <p:nvPr>
            <p:extLst>
              <p:ext uri="{D42A27DB-BD31-4B8C-83A1-F6EECF244321}">
                <p14:modId xmlns:p14="http://schemas.microsoft.com/office/powerpoint/2010/main" val="3736637720"/>
              </p:ext>
            </p:extLst>
          </p:nvPr>
        </p:nvGraphicFramePr>
        <p:xfrm>
          <a:off x="691116" y="2153919"/>
          <a:ext cx="10909003" cy="5134183"/>
        </p:xfrm>
        <a:graphic>
          <a:graphicData uri="http://schemas.openxmlformats.org/drawingml/2006/table">
            <a:tbl>
              <a:tblPr firstRow="1" firstCol="1" bandRow="1">
                <a:tableStyleId>{5C22544A-7EE6-4342-B048-85BDC9FD1C3A}</a:tableStyleId>
              </a:tblPr>
              <a:tblGrid>
                <a:gridCol w="2485731">
                  <a:extLst>
                    <a:ext uri="{9D8B030D-6E8A-4147-A177-3AD203B41FA5}">
                      <a16:colId xmlns:a16="http://schemas.microsoft.com/office/drawing/2014/main" val="3201570871"/>
                    </a:ext>
                  </a:extLst>
                </a:gridCol>
                <a:gridCol w="2481456">
                  <a:extLst>
                    <a:ext uri="{9D8B030D-6E8A-4147-A177-3AD203B41FA5}">
                      <a16:colId xmlns:a16="http://schemas.microsoft.com/office/drawing/2014/main" val="2557915847"/>
                    </a:ext>
                  </a:extLst>
                </a:gridCol>
                <a:gridCol w="1363625">
                  <a:extLst>
                    <a:ext uri="{9D8B030D-6E8A-4147-A177-3AD203B41FA5}">
                      <a16:colId xmlns:a16="http://schemas.microsoft.com/office/drawing/2014/main" val="417430428"/>
                    </a:ext>
                  </a:extLst>
                </a:gridCol>
                <a:gridCol w="2695191">
                  <a:extLst>
                    <a:ext uri="{9D8B030D-6E8A-4147-A177-3AD203B41FA5}">
                      <a16:colId xmlns:a16="http://schemas.microsoft.com/office/drawing/2014/main" val="2965934562"/>
                    </a:ext>
                  </a:extLst>
                </a:gridCol>
                <a:gridCol w="1883000">
                  <a:extLst>
                    <a:ext uri="{9D8B030D-6E8A-4147-A177-3AD203B41FA5}">
                      <a16:colId xmlns:a16="http://schemas.microsoft.com/office/drawing/2014/main" val="740239285"/>
                    </a:ext>
                  </a:extLst>
                </a:gridCol>
              </a:tblGrid>
              <a:tr h="285988">
                <a:tc>
                  <a:txBody>
                    <a:bodyPr/>
                    <a:lstStyle/>
                    <a:p>
                      <a:pPr algn="ctr">
                        <a:buNone/>
                      </a:pPr>
                      <a:r>
                        <a:rPr lang="en-US" sz="2000">
                          <a:effectLst/>
                        </a:rPr>
                        <a:t>Study</a:t>
                      </a:r>
                      <a:endParaRPr lang="en-IN" sz="2000">
                        <a:effectLst/>
                        <a:latin typeface="Times New Roman" panose="02020603050405020304" pitchFamily="18" charset="0"/>
                        <a:ea typeface="SimSun" panose="02010600030101010101" pitchFamily="2" charset="-122"/>
                      </a:endParaRPr>
                    </a:p>
                  </a:txBody>
                  <a:tcPr marL="68580" marR="68580" marT="0" marB="0"/>
                </a:tc>
                <a:tc>
                  <a:txBody>
                    <a:bodyPr/>
                    <a:lstStyle/>
                    <a:p>
                      <a:pPr algn="ctr">
                        <a:buNone/>
                      </a:pPr>
                      <a:r>
                        <a:rPr lang="en-US" sz="2000">
                          <a:effectLst/>
                        </a:rPr>
                        <a:t>Model</a:t>
                      </a:r>
                      <a:endParaRPr lang="en-IN" sz="2000">
                        <a:effectLst/>
                        <a:latin typeface="Times New Roman" panose="02020603050405020304" pitchFamily="18" charset="0"/>
                        <a:ea typeface="SimSun" panose="02010600030101010101" pitchFamily="2" charset="-122"/>
                      </a:endParaRPr>
                    </a:p>
                  </a:txBody>
                  <a:tcPr marL="68580" marR="68580" marT="0" marB="0"/>
                </a:tc>
                <a:tc>
                  <a:txBody>
                    <a:bodyPr/>
                    <a:lstStyle/>
                    <a:p>
                      <a:pPr algn="ctr">
                        <a:buNone/>
                      </a:pPr>
                      <a:r>
                        <a:rPr lang="en-US" sz="2000">
                          <a:effectLst/>
                        </a:rPr>
                        <a:t>Year</a:t>
                      </a:r>
                      <a:endParaRPr lang="en-IN" sz="2000">
                        <a:effectLst/>
                        <a:latin typeface="Times New Roman" panose="02020603050405020304" pitchFamily="18" charset="0"/>
                        <a:ea typeface="SimSun" panose="02010600030101010101" pitchFamily="2" charset="-122"/>
                      </a:endParaRPr>
                    </a:p>
                  </a:txBody>
                  <a:tcPr marL="68580" marR="68580" marT="0" marB="0"/>
                </a:tc>
                <a:tc>
                  <a:txBody>
                    <a:bodyPr/>
                    <a:lstStyle/>
                    <a:p>
                      <a:pPr algn="ctr">
                        <a:buNone/>
                      </a:pPr>
                      <a:r>
                        <a:rPr lang="en-US" sz="2000">
                          <a:effectLst/>
                        </a:rPr>
                        <a:t>Inputs</a:t>
                      </a:r>
                      <a:endParaRPr lang="en-IN" sz="2000">
                        <a:effectLst/>
                        <a:latin typeface="Times New Roman" panose="02020603050405020304" pitchFamily="18" charset="0"/>
                        <a:ea typeface="SimSun" panose="02010600030101010101" pitchFamily="2" charset="-122"/>
                      </a:endParaRPr>
                    </a:p>
                  </a:txBody>
                  <a:tcPr marL="68580" marR="68580" marT="0" marB="0"/>
                </a:tc>
                <a:tc>
                  <a:txBody>
                    <a:bodyPr/>
                    <a:lstStyle/>
                    <a:p>
                      <a:pPr algn="ctr">
                        <a:buNone/>
                      </a:pPr>
                      <a:r>
                        <a:rPr lang="en-US" sz="2000">
                          <a:effectLst/>
                        </a:rPr>
                        <a:t>Accuracy</a:t>
                      </a:r>
                      <a:endParaRPr lang="en-IN" sz="2000">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751997109"/>
                  </a:ext>
                </a:extLst>
              </a:tr>
              <a:tr h="586896">
                <a:tc>
                  <a:txBody>
                    <a:bodyPr/>
                    <a:lstStyle/>
                    <a:p>
                      <a:pPr>
                        <a:buNone/>
                      </a:pPr>
                      <a:r>
                        <a:rPr lang="en-IN"/>
                        <a:t>Chan &amp; Cooley [1]</a:t>
                      </a:r>
                    </a:p>
                  </a:txBody>
                  <a:tcPr anchor="ctr"/>
                </a:tc>
                <a:tc>
                  <a:txBody>
                    <a:bodyPr/>
                    <a:lstStyle/>
                    <a:p>
                      <a:pPr>
                        <a:buNone/>
                      </a:pPr>
                      <a:r>
                        <a:rPr lang="en-IN"/>
                        <a:t>HMM-based Speech Recognition</a:t>
                      </a:r>
                    </a:p>
                  </a:txBody>
                  <a:tcPr anchor="ctr"/>
                </a:tc>
                <a:tc>
                  <a:txBody>
                    <a:bodyPr/>
                    <a:lstStyle/>
                    <a:p>
                      <a:pPr>
                        <a:buNone/>
                      </a:pPr>
                      <a:r>
                        <a:rPr lang="en-IN"/>
                        <a:t>2013</a:t>
                      </a:r>
                    </a:p>
                  </a:txBody>
                  <a:tcPr anchor="ctr"/>
                </a:tc>
                <a:tc>
                  <a:txBody>
                    <a:bodyPr/>
                    <a:lstStyle/>
                    <a:p>
                      <a:pPr>
                        <a:buNone/>
                      </a:pPr>
                      <a:r>
                        <a:rPr lang="en-IN"/>
                        <a:t>Speech Signals</a:t>
                      </a:r>
                    </a:p>
                  </a:txBody>
                  <a:tcPr anchor="ctr"/>
                </a:tc>
                <a:tc>
                  <a:txBody>
                    <a:bodyPr/>
                    <a:lstStyle/>
                    <a:p>
                      <a:pPr>
                        <a:buNone/>
                      </a:pPr>
                      <a:r>
                        <a:rPr lang="en-US"/>
                        <a:t>Limited accuracy in noisy environments</a:t>
                      </a:r>
                    </a:p>
                  </a:txBody>
                  <a:tcPr anchor="ctr"/>
                </a:tc>
                <a:extLst>
                  <a:ext uri="{0D108BD9-81ED-4DB2-BD59-A6C34878D82A}">
                    <a16:rowId xmlns:a16="http://schemas.microsoft.com/office/drawing/2014/main" val="3643891320"/>
                  </a:ext>
                </a:extLst>
              </a:tr>
              <a:tr h="859207">
                <a:tc>
                  <a:txBody>
                    <a:bodyPr/>
                    <a:lstStyle/>
                    <a:p>
                      <a:pPr>
                        <a:buNone/>
                      </a:pPr>
                      <a:r>
                        <a:rPr lang="en-IN"/>
                        <a:t>Jurafsky &amp; Martin [2]</a:t>
                      </a:r>
                    </a:p>
                  </a:txBody>
                  <a:tcPr anchor="ctr"/>
                </a:tc>
                <a:tc>
                  <a:txBody>
                    <a:bodyPr/>
                    <a:lstStyle/>
                    <a:p>
                      <a:pPr>
                        <a:buNone/>
                      </a:pPr>
                      <a:r>
                        <a:rPr lang="en-IN"/>
                        <a:t>NLP &amp; Deep Learning Models</a:t>
                      </a:r>
                    </a:p>
                  </a:txBody>
                  <a:tcPr anchor="ctr"/>
                </a:tc>
                <a:tc>
                  <a:txBody>
                    <a:bodyPr/>
                    <a:lstStyle/>
                    <a:p>
                      <a:pPr>
                        <a:buNone/>
                      </a:pPr>
                      <a:r>
                        <a:rPr lang="en-IN"/>
                        <a:t>2021</a:t>
                      </a:r>
                    </a:p>
                  </a:txBody>
                  <a:tcPr anchor="ctr"/>
                </a:tc>
                <a:tc>
                  <a:txBody>
                    <a:bodyPr/>
                    <a:lstStyle/>
                    <a:p>
                      <a:pPr>
                        <a:buNone/>
                      </a:pPr>
                      <a:r>
                        <a:rPr lang="en-IN"/>
                        <a:t>Text &amp; Speech Data</a:t>
                      </a:r>
                    </a:p>
                  </a:txBody>
                  <a:tcPr anchor="ctr"/>
                </a:tc>
                <a:tc>
                  <a:txBody>
                    <a:bodyPr/>
                    <a:lstStyle/>
                    <a:p>
                      <a:pPr>
                        <a:buNone/>
                      </a:pPr>
                      <a:r>
                        <a:rPr lang="en-IN"/>
                        <a:t>Improved language understanding</a:t>
                      </a:r>
                    </a:p>
                  </a:txBody>
                  <a:tcPr anchor="ctr"/>
                </a:tc>
                <a:extLst>
                  <a:ext uri="{0D108BD9-81ED-4DB2-BD59-A6C34878D82A}">
                    <a16:rowId xmlns:a16="http://schemas.microsoft.com/office/drawing/2014/main" val="3301675552"/>
                  </a:ext>
                </a:extLst>
              </a:tr>
              <a:tr h="586896">
                <a:tc>
                  <a:txBody>
                    <a:bodyPr/>
                    <a:lstStyle/>
                    <a:p>
                      <a:pPr>
                        <a:buNone/>
                      </a:pPr>
                      <a:r>
                        <a:rPr lang="en-IN"/>
                        <a:t>Google Speech API [3]</a:t>
                      </a:r>
                    </a:p>
                  </a:txBody>
                  <a:tcPr anchor="ctr"/>
                </a:tc>
                <a:tc>
                  <a:txBody>
                    <a:bodyPr/>
                    <a:lstStyle/>
                    <a:p>
                      <a:pPr>
                        <a:buNone/>
                      </a:pPr>
                      <a:r>
                        <a:rPr lang="en-IN"/>
                        <a:t>Deep Neural Networks</a:t>
                      </a:r>
                    </a:p>
                  </a:txBody>
                  <a:tcPr anchor="ctr"/>
                </a:tc>
                <a:tc>
                  <a:txBody>
                    <a:bodyPr/>
                    <a:lstStyle/>
                    <a:p>
                      <a:pPr>
                        <a:buNone/>
                      </a:pPr>
                      <a:r>
                        <a:rPr lang="en-IN"/>
                        <a:t>2023</a:t>
                      </a:r>
                    </a:p>
                  </a:txBody>
                  <a:tcPr anchor="ctr"/>
                </a:tc>
                <a:tc>
                  <a:txBody>
                    <a:bodyPr/>
                    <a:lstStyle/>
                    <a:p>
                      <a:pPr>
                        <a:buNone/>
                      </a:pPr>
                      <a:r>
                        <a:rPr lang="en-IN"/>
                        <a:t>Voice Input</a:t>
                      </a:r>
                    </a:p>
                  </a:txBody>
                  <a:tcPr anchor="ctr"/>
                </a:tc>
                <a:tc>
                  <a:txBody>
                    <a:bodyPr/>
                    <a:lstStyle/>
                    <a:p>
                      <a:pPr>
                        <a:buNone/>
                      </a:pPr>
                      <a:r>
                        <a:rPr lang="en-IN"/>
                        <a:t>High accuracy speech-to-text</a:t>
                      </a:r>
                    </a:p>
                  </a:txBody>
                  <a:tcPr anchor="ctr"/>
                </a:tc>
                <a:extLst>
                  <a:ext uri="{0D108BD9-81ED-4DB2-BD59-A6C34878D82A}">
                    <a16:rowId xmlns:a16="http://schemas.microsoft.com/office/drawing/2014/main" val="1274666678"/>
                  </a:ext>
                </a:extLst>
              </a:tr>
              <a:tr h="573218">
                <a:tc>
                  <a:txBody>
                    <a:bodyPr/>
                    <a:lstStyle/>
                    <a:p>
                      <a:pPr>
                        <a:buNone/>
                      </a:pPr>
                      <a:r>
                        <a:rPr lang="en-IN"/>
                        <a:t>Google gTTS [4]</a:t>
                      </a:r>
                    </a:p>
                  </a:txBody>
                  <a:tcPr anchor="ctr"/>
                </a:tc>
                <a:tc>
                  <a:txBody>
                    <a:bodyPr/>
                    <a:lstStyle/>
                    <a:p>
                      <a:pPr>
                        <a:buNone/>
                      </a:pPr>
                      <a:r>
                        <a:rPr lang="en-IN"/>
                        <a:t>Text-to-Speech System</a:t>
                      </a:r>
                    </a:p>
                  </a:txBody>
                  <a:tcPr anchor="ctr"/>
                </a:tc>
                <a:tc>
                  <a:txBody>
                    <a:bodyPr/>
                    <a:lstStyle/>
                    <a:p>
                      <a:pPr>
                        <a:buNone/>
                      </a:pPr>
                      <a:r>
                        <a:rPr lang="en-IN"/>
                        <a:t>2023</a:t>
                      </a:r>
                    </a:p>
                  </a:txBody>
                  <a:tcPr anchor="ctr"/>
                </a:tc>
                <a:tc>
                  <a:txBody>
                    <a:bodyPr/>
                    <a:lstStyle/>
                    <a:p>
                      <a:pPr>
                        <a:buNone/>
                      </a:pPr>
                      <a:r>
                        <a:rPr lang="en-IN"/>
                        <a:t>Text Data</a:t>
                      </a:r>
                    </a:p>
                  </a:txBody>
                  <a:tcPr anchor="ctr"/>
                </a:tc>
                <a:tc>
                  <a:txBody>
                    <a:bodyPr/>
                    <a:lstStyle/>
                    <a:p>
                      <a:pPr>
                        <a:buNone/>
                      </a:pPr>
                      <a:r>
                        <a:rPr lang="en-IN"/>
                        <a:t>Natural audio output generation</a:t>
                      </a:r>
                    </a:p>
                  </a:txBody>
                  <a:tcPr anchor="ctr"/>
                </a:tc>
                <a:extLst>
                  <a:ext uri="{0D108BD9-81ED-4DB2-BD59-A6C34878D82A}">
                    <a16:rowId xmlns:a16="http://schemas.microsoft.com/office/drawing/2014/main" val="457118208"/>
                  </a:ext>
                </a:extLst>
              </a:tr>
              <a:tr h="1446103">
                <a:tc>
                  <a:txBody>
                    <a:bodyPr/>
                    <a:lstStyle/>
                    <a:p>
                      <a:pPr>
                        <a:buNone/>
                      </a:pPr>
                      <a:r>
                        <a:rPr lang="en-IN"/>
                        <a:t>Proposed System (Ours)</a:t>
                      </a:r>
                    </a:p>
                  </a:txBody>
                  <a:tcPr anchor="ctr"/>
                </a:tc>
                <a:tc>
                  <a:txBody>
                    <a:bodyPr/>
                    <a:lstStyle/>
                    <a:p>
                      <a:pPr>
                        <a:buNone/>
                      </a:pPr>
                      <a:r>
                        <a:rPr lang="en-IN"/>
                        <a:t>AI + NLP + Voice Integration</a:t>
                      </a:r>
                    </a:p>
                  </a:txBody>
                  <a:tcPr anchor="ctr"/>
                </a:tc>
                <a:tc>
                  <a:txBody>
                    <a:bodyPr/>
                    <a:lstStyle/>
                    <a:p>
                      <a:pPr>
                        <a:buNone/>
                      </a:pPr>
                      <a:r>
                        <a:rPr lang="en-IN"/>
                        <a:t>2026</a:t>
                      </a:r>
                    </a:p>
                  </a:txBody>
                  <a:tcPr anchor="ctr"/>
                </a:tc>
                <a:tc>
                  <a:txBody>
                    <a:bodyPr/>
                    <a:lstStyle/>
                    <a:p>
                      <a:pPr>
                        <a:buNone/>
                      </a:pPr>
                      <a:r>
                        <a:rPr lang="en-IN"/>
                        <a:t>Voice + PDF Documents</a:t>
                      </a:r>
                    </a:p>
                  </a:txBody>
                  <a:tcPr anchor="ctr"/>
                </a:tc>
                <a:tc>
                  <a:txBody>
                    <a:bodyPr/>
                    <a:lstStyle/>
                    <a:p>
                      <a:pPr>
                        <a:buNone/>
                      </a:pPr>
                      <a:r>
                        <a:rPr lang="en-IN" dirty="0"/>
                        <a:t>Intelligent, interactive learning system</a:t>
                      </a:r>
                    </a:p>
                  </a:txBody>
                  <a:tcPr anchor="ctr"/>
                </a:tc>
                <a:extLst>
                  <a:ext uri="{0D108BD9-81ED-4DB2-BD59-A6C34878D82A}">
                    <a16:rowId xmlns:a16="http://schemas.microsoft.com/office/drawing/2014/main" val="4196648679"/>
                  </a:ext>
                </a:extLst>
              </a:tr>
            </a:tbl>
          </a:graphicData>
        </a:graphic>
      </p:graphicFrame>
      <p:pic>
        <p:nvPicPr>
          <p:cNvPr id="4" name="image2.png">
            <a:extLst>
              <a:ext uri="{FF2B5EF4-FFF2-40B4-BE49-F238E27FC236}">
                <a16:creationId xmlns:a16="http://schemas.microsoft.com/office/drawing/2014/main" id="{CDBDF953-33C7-4784-0A0B-89DC454E301E}"/>
              </a:ext>
            </a:extLst>
          </p:cNvPr>
          <p:cNvPicPr/>
          <p:nvPr/>
        </p:nvPicPr>
        <p:blipFill>
          <a:blip r:embed="rId2"/>
          <a:srcRect/>
          <a:stretch>
            <a:fillRect/>
          </a:stretch>
        </p:blipFill>
        <p:spPr>
          <a:xfrm>
            <a:off x="-9924" y="0"/>
            <a:ext cx="12201924" cy="1489977"/>
          </a:xfrm>
          <a:prstGeom prst="rect">
            <a:avLst/>
          </a:prstGeom>
        </p:spPr>
      </p:pic>
    </p:spTree>
    <p:extLst>
      <p:ext uri="{BB962C8B-B14F-4D97-AF65-F5344CB8AC3E}">
        <p14:creationId xmlns:p14="http://schemas.microsoft.com/office/powerpoint/2010/main" val="87059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03F44-F451-3EAF-123A-4483159827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C9936B-E1C2-E305-98A3-0437EDD4F443}"/>
              </a:ext>
            </a:extLst>
          </p:cNvPr>
          <p:cNvSpPr>
            <a:spLocks noGrp="1"/>
          </p:cNvSpPr>
          <p:nvPr>
            <p:ph type="ctrTitle"/>
          </p:nvPr>
        </p:nvSpPr>
        <p:spPr>
          <a:xfrm>
            <a:off x="1311349" y="1229360"/>
            <a:ext cx="9144000" cy="924560"/>
          </a:xfrm>
        </p:spPr>
        <p:txBody>
          <a:bodyPr>
            <a:normAutofit/>
          </a:bodyPr>
          <a:lstStyle/>
          <a:p>
            <a:r>
              <a:rPr lang="en-US" sz="4400" dirty="0" err="1">
                <a:latin typeface="Times New Roman" panose="02020603050405020304" pitchFamily="18" charset="0"/>
                <a:cs typeface="Times New Roman" panose="02020603050405020304" pitchFamily="18" charset="0"/>
              </a:rPr>
              <a:t>Exisisting</a:t>
            </a:r>
            <a:r>
              <a:rPr lang="en-US" sz="4400" dirty="0">
                <a:latin typeface="Times New Roman" panose="02020603050405020304" pitchFamily="18" charset="0"/>
                <a:cs typeface="Times New Roman" panose="02020603050405020304" pitchFamily="18" charset="0"/>
              </a:rPr>
              <a:t> System Overview</a:t>
            </a:r>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91766E0-1464-3F8C-E9FA-44B14D294CE2}"/>
              </a:ext>
            </a:extLst>
          </p:cNvPr>
          <p:cNvSpPr>
            <a:spLocks noGrp="1"/>
          </p:cNvSpPr>
          <p:nvPr>
            <p:ph type="subTitle" idx="1"/>
          </p:nvPr>
        </p:nvSpPr>
        <p:spPr>
          <a:xfrm>
            <a:off x="101600" y="0"/>
            <a:ext cx="11998960" cy="1229360"/>
          </a:xfrm>
        </p:spPr>
        <p:txBody>
          <a:bodyPr>
            <a:noAutofit/>
          </a:bodyPr>
          <a:lstStyle/>
          <a:p>
            <a:endParaRPr lang="en-IN" sz="16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BA5DCE3F-05AD-0739-86B6-FDA0E53B9BB3}"/>
              </a:ext>
            </a:extLst>
          </p:cNvPr>
          <p:cNvCxnSpPr>
            <a:cxnSpLocks/>
          </p:cNvCxnSpPr>
          <p:nvPr/>
        </p:nvCxnSpPr>
        <p:spPr>
          <a:xfrm>
            <a:off x="0" y="148336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Subtitle 2">
            <a:extLst>
              <a:ext uri="{FF2B5EF4-FFF2-40B4-BE49-F238E27FC236}">
                <a16:creationId xmlns:a16="http://schemas.microsoft.com/office/drawing/2014/main" id="{6DBA208B-0E2B-D700-0C88-5FBC3AF8BC71}"/>
              </a:ext>
            </a:extLst>
          </p:cNvPr>
          <p:cNvSpPr txBox="1">
            <a:spLocks/>
          </p:cNvSpPr>
          <p:nvPr/>
        </p:nvSpPr>
        <p:spPr>
          <a:xfrm>
            <a:off x="0" y="5262880"/>
            <a:ext cx="12192000" cy="122936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0EAC7FD-B5D2-46E7-BB54-718E82023B22}"/>
              </a:ext>
            </a:extLst>
          </p:cNvPr>
          <p:cNvSpPr txBox="1"/>
          <p:nvPr/>
        </p:nvSpPr>
        <p:spPr>
          <a:xfrm>
            <a:off x="329609" y="2349795"/>
            <a:ext cx="11760318" cy="379187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Existing assistive learning systems for visually impaired users mainly rely on screen readers and basic voice assistants. These systems convert text into speech, allowing users to listen to digital content such as documents and web pages.</a:t>
            </a:r>
          </a:p>
          <a:p>
            <a:pPr marL="285750" indent="-285750">
              <a:lnSpc>
                <a:spcPct val="150000"/>
              </a:lnSpc>
              <a:buFont typeface="Arial" panose="020B0604020202020204" pitchFamily="34" charset="0"/>
              <a:buChar char="•"/>
            </a:pPr>
            <a:r>
              <a:rPr lang="en-US" dirty="0"/>
              <a:t>However, they provide only one-way interaction, where the system reads the content without understanding the context or user queries. Most systems lack intelligent processing capabilities, such as explaining complex topics, summarizing information, or generating meaningful responses.</a:t>
            </a:r>
          </a:p>
          <a:p>
            <a:pPr marL="285750" indent="-285750">
              <a:lnSpc>
                <a:spcPct val="150000"/>
              </a:lnSpc>
              <a:buFont typeface="Arial" panose="020B0604020202020204" pitchFamily="34" charset="0"/>
              <a:buChar char="•"/>
            </a:pPr>
            <a:r>
              <a:rPr lang="en-US" dirty="0"/>
              <a:t>Additionally, these tools do not support interactive learning features and fail to recognize user intent effectively. As a result, users often face difficulty in understanding content and still depend on external assistance for better learning.</a:t>
            </a:r>
          </a:p>
        </p:txBody>
      </p:sp>
      <p:pic>
        <p:nvPicPr>
          <p:cNvPr id="6" name="image2.png">
            <a:extLst>
              <a:ext uri="{FF2B5EF4-FFF2-40B4-BE49-F238E27FC236}">
                <a16:creationId xmlns:a16="http://schemas.microsoft.com/office/drawing/2014/main" id="{23C708C8-4D49-768C-6107-E89527E8116D}"/>
              </a:ext>
            </a:extLst>
          </p:cNvPr>
          <p:cNvPicPr/>
          <p:nvPr/>
        </p:nvPicPr>
        <p:blipFill>
          <a:blip r:embed="rId2"/>
          <a:srcRect/>
          <a:stretch>
            <a:fillRect/>
          </a:stretch>
        </p:blipFill>
        <p:spPr>
          <a:xfrm>
            <a:off x="-9924" y="0"/>
            <a:ext cx="12201924" cy="1489977"/>
          </a:xfrm>
          <a:prstGeom prst="rect">
            <a:avLst/>
          </a:prstGeom>
        </p:spPr>
      </p:pic>
    </p:spTree>
    <p:extLst>
      <p:ext uri="{BB962C8B-B14F-4D97-AF65-F5344CB8AC3E}">
        <p14:creationId xmlns:p14="http://schemas.microsoft.com/office/powerpoint/2010/main" val="1781073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54413-480E-A566-88E3-625E81DA78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4E71F-3C0F-3CC0-D4CF-75E8FD30B0BD}"/>
              </a:ext>
            </a:extLst>
          </p:cNvPr>
          <p:cNvSpPr>
            <a:spLocks noGrp="1"/>
          </p:cNvSpPr>
          <p:nvPr>
            <p:ph type="ctrTitle"/>
          </p:nvPr>
        </p:nvSpPr>
        <p:spPr>
          <a:xfrm>
            <a:off x="1311349" y="1229360"/>
            <a:ext cx="9144000" cy="924560"/>
          </a:xfrm>
        </p:spPr>
        <p:txBody>
          <a:bodyPr>
            <a:normAutofit/>
          </a:bodyPr>
          <a:lstStyle/>
          <a:p>
            <a:r>
              <a:rPr lang="en-US" sz="4400" dirty="0">
                <a:latin typeface="Times New Roman" panose="02020603050405020304" pitchFamily="18" charset="0"/>
                <a:cs typeface="Times New Roman" panose="02020603050405020304" pitchFamily="18" charset="0"/>
              </a:rPr>
              <a:t>Proposed Methodology</a:t>
            </a:r>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1AC5C4E-D051-F278-D5F6-629C2F338157}"/>
              </a:ext>
            </a:extLst>
          </p:cNvPr>
          <p:cNvSpPr>
            <a:spLocks noGrp="1"/>
          </p:cNvSpPr>
          <p:nvPr>
            <p:ph type="subTitle" idx="1"/>
          </p:nvPr>
        </p:nvSpPr>
        <p:spPr>
          <a:xfrm>
            <a:off x="193040" y="260616"/>
            <a:ext cx="11998960" cy="1229360"/>
          </a:xfrm>
        </p:spPr>
        <p:txBody>
          <a:bodyPr>
            <a:noAutofit/>
          </a:bodyPr>
          <a:lstStyle/>
          <a:p>
            <a:endParaRPr lang="en-IN" sz="16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863A9E09-A24A-C339-620D-CCABEB4DF0CA}"/>
              </a:ext>
            </a:extLst>
          </p:cNvPr>
          <p:cNvCxnSpPr>
            <a:cxnSpLocks/>
          </p:cNvCxnSpPr>
          <p:nvPr/>
        </p:nvCxnSpPr>
        <p:spPr>
          <a:xfrm>
            <a:off x="0" y="148336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Subtitle 2">
            <a:extLst>
              <a:ext uri="{FF2B5EF4-FFF2-40B4-BE49-F238E27FC236}">
                <a16:creationId xmlns:a16="http://schemas.microsoft.com/office/drawing/2014/main" id="{FA2A0875-7F3F-060E-7E79-1BF64D0A9F02}"/>
              </a:ext>
            </a:extLst>
          </p:cNvPr>
          <p:cNvSpPr txBox="1">
            <a:spLocks/>
          </p:cNvSpPr>
          <p:nvPr/>
        </p:nvSpPr>
        <p:spPr>
          <a:xfrm>
            <a:off x="0" y="2153920"/>
            <a:ext cx="12192000" cy="433832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504D09D-BA97-6368-1244-85276E1FB034}"/>
              </a:ext>
            </a:extLst>
          </p:cNvPr>
          <p:cNvSpPr txBox="1"/>
          <p:nvPr/>
        </p:nvSpPr>
        <p:spPr>
          <a:xfrm>
            <a:off x="400493" y="2026329"/>
            <a:ext cx="11344940" cy="503836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The proposed system is an AI-Based Voice Tutor designed to provide an interactive and accessible learning experience for visually impaired students. The system allows users to interact completely through voice commands, eliminating the need for visual interfaces.</a:t>
            </a:r>
          </a:p>
          <a:p>
            <a:pPr marL="285750" indent="-285750">
              <a:lnSpc>
                <a:spcPct val="150000"/>
              </a:lnSpc>
              <a:buFont typeface="Arial" panose="020B0604020202020204" pitchFamily="34" charset="0"/>
              <a:buChar char="•"/>
            </a:pPr>
            <a:r>
              <a:rPr lang="en-US" dirty="0"/>
              <a:t>The methodology begins with capturing user input through speech recognition, where voice is converted into text. The system then processes uploaded PDF documents, extracting and organizing the content for further analysis.</a:t>
            </a:r>
          </a:p>
          <a:p>
            <a:pPr marL="285750" indent="-285750">
              <a:lnSpc>
                <a:spcPct val="150000"/>
              </a:lnSpc>
              <a:buFont typeface="Arial" panose="020B0604020202020204" pitchFamily="34" charset="0"/>
              <a:buChar char="•"/>
            </a:pPr>
            <a:r>
              <a:rPr lang="en-US" dirty="0"/>
              <a:t>An intent recognition module analyzes the user’s query to understand the required action, such as summarization, explanation, or translation. Based on this, the AI model (Gemini API) generates meaningful and context-aware responses.</a:t>
            </a:r>
          </a:p>
          <a:p>
            <a:pPr marL="285750" indent="-285750">
              <a:lnSpc>
                <a:spcPct val="150000"/>
              </a:lnSpc>
              <a:buFont typeface="Arial" panose="020B0604020202020204" pitchFamily="34" charset="0"/>
              <a:buChar char="•"/>
            </a:pPr>
            <a:r>
              <a:rPr lang="en-US" dirty="0"/>
              <a:t>Finally, the generated response is converted into audio using text-to-speech technology (</a:t>
            </a:r>
            <a:r>
              <a:rPr lang="en-US" dirty="0" err="1"/>
              <a:t>gTTS</a:t>
            </a:r>
            <a:r>
              <a:rPr lang="en-US" dirty="0"/>
              <a:t>), providing a clear and natural voice output. This complete workflow ensures a seamless, intelligent, and voice-driven learning process for users.</a:t>
            </a:r>
          </a:p>
        </p:txBody>
      </p:sp>
      <p:pic>
        <p:nvPicPr>
          <p:cNvPr id="4" name="image2.png">
            <a:extLst>
              <a:ext uri="{FF2B5EF4-FFF2-40B4-BE49-F238E27FC236}">
                <a16:creationId xmlns:a16="http://schemas.microsoft.com/office/drawing/2014/main" id="{0304D7CD-69B1-F37B-F491-F7A1D134A06D}"/>
              </a:ext>
            </a:extLst>
          </p:cNvPr>
          <p:cNvPicPr/>
          <p:nvPr/>
        </p:nvPicPr>
        <p:blipFill>
          <a:blip r:embed="rId2"/>
          <a:srcRect/>
          <a:stretch>
            <a:fillRect/>
          </a:stretch>
        </p:blipFill>
        <p:spPr>
          <a:xfrm>
            <a:off x="-9924" y="0"/>
            <a:ext cx="12201924" cy="1489977"/>
          </a:xfrm>
          <a:prstGeom prst="rect">
            <a:avLst/>
          </a:prstGeom>
        </p:spPr>
      </p:pic>
    </p:spTree>
    <p:extLst>
      <p:ext uri="{BB962C8B-B14F-4D97-AF65-F5344CB8AC3E}">
        <p14:creationId xmlns:p14="http://schemas.microsoft.com/office/powerpoint/2010/main" val="1569157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9049D-A5A7-34FC-71DA-87139F8D7B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2952F6-65C6-8D15-D5BE-43898DF5EB23}"/>
              </a:ext>
            </a:extLst>
          </p:cNvPr>
          <p:cNvSpPr>
            <a:spLocks noGrp="1"/>
          </p:cNvSpPr>
          <p:nvPr>
            <p:ph type="ctrTitle"/>
          </p:nvPr>
        </p:nvSpPr>
        <p:spPr>
          <a:xfrm>
            <a:off x="1311349" y="1229360"/>
            <a:ext cx="9144000" cy="924560"/>
          </a:xfrm>
        </p:spPr>
        <p:txBody>
          <a:bodyPr>
            <a:normAutofit/>
          </a:bodyPr>
          <a:lstStyle/>
          <a:p>
            <a:r>
              <a:rPr lang="en-US" sz="4400" dirty="0">
                <a:latin typeface="Times New Roman" panose="02020603050405020304" pitchFamily="18" charset="0"/>
                <a:cs typeface="Times New Roman" panose="02020603050405020304" pitchFamily="18" charset="0"/>
              </a:rPr>
              <a:t>Modules with description</a:t>
            </a:r>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4F67ECD-425C-3160-8B39-2C65AD1C218D}"/>
              </a:ext>
            </a:extLst>
          </p:cNvPr>
          <p:cNvSpPr>
            <a:spLocks noGrp="1"/>
          </p:cNvSpPr>
          <p:nvPr>
            <p:ph type="subTitle" idx="1"/>
          </p:nvPr>
        </p:nvSpPr>
        <p:spPr>
          <a:xfrm>
            <a:off x="101600" y="0"/>
            <a:ext cx="11998960" cy="1229360"/>
          </a:xfrm>
        </p:spPr>
        <p:txBody>
          <a:bodyPr>
            <a:noAutofit/>
          </a:bodyPr>
          <a:lstStyle/>
          <a:p>
            <a:r>
              <a:rPr lang="en-US" sz="2500" dirty="0">
                <a:latin typeface="Times New Roman" panose="02020603050405020304" pitchFamily="18" charset="0"/>
                <a:cs typeface="Times New Roman" panose="02020603050405020304" pitchFamily="18" charset="0"/>
              </a:rPr>
              <a:t>2nd International Conference on Artificial Intelligence for Innovations in Healthcare Industries (ICAIIHI 2025)</a:t>
            </a:r>
          </a:p>
          <a:p>
            <a:r>
              <a:rPr lang="en-US" sz="1600" dirty="0">
                <a:latin typeface="Times New Roman" panose="02020603050405020304" pitchFamily="18" charset="0"/>
                <a:cs typeface="Times New Roman" panose="02020603050405020304" pitchFamily="18" charset="0"/>
              </a:rPr>
              <a:t>Technically Co-Sponsored by: IEEE Computer Society, IEEE Computer Society Technical Committee on Intelligent Informatics (TCII) </a:t>
            </a:r>
          </a:p>
          <a:p>
            <a:r>
              <a:rPr lang="en-US" sz="1600" dirty="0">
                <a:latin typeface="Times New Roman" panose="02020603050405020304" pitchFamily="18" charset="0"/>
                <a:cs typeface="Times New Roman" panose="02020603050405020304" pitchFamily="18" charset="0"/>
              </a:rPr>
              <a:t>Date: December 4  &amp; 5, 2025 (Hybrid Mode)</a:t>
            </a:r>
            <a:endParaRPr lang="en-IN" sz="16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FF813169-8299-855A-1744-475C864416E5}"/>
              </a:ext>
            </a:extLst>
          </p:cNvPr>
          <p:cNvCxnSpPr>
            <a:cxnSpLocks/>
          </p:cNvCxnSpPr>
          <p:nvPr/>
        </p:nvCxnSpPr>
        <p:spPr>
          <a:xfrm>
            <a:off x="0" y="148336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Subtitle 2">
            <a:extLst>
              <a:ext uri="{FF2B5EF4-FFF2-40B4-BE49-F238E27FC236}">
                <a16:creationId xmlns:a16="http://schemas.microsoft.com/office/drawing/2014/main" id="{D9C3192C-0B4C-8FBE-8F37-57CE9D34A73E}"/>
              </a:ext>
            </a:extLst>
          </p:cNvPr>
          <p:cNvSpPr txBox="1">
            <a:spLocks/>
          </p:cNvSpPr>
          <p:nvPr/>
        </p:nvSpPr>
        <p:spPr>
          <a:xfrm>
            <a:off x="0" y="2153920"/>
            <a:ext cx="12192000" cy="433832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71B5BAD-5F65-20F4-7CB1-85B1D60E0AC5}"/>
              </a:ext>
            </a:extLst>
          </p:cNvPr>
          <p:cNvSpPr txBox="1"/>
          <p:nvPr/>
        </p:nvSpPr>
        <p:spPr>
          <a:xfrm>
            <a:off x="178011" y="1229360"/>
            <a:ext cx="11249247" cy="559236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Dataset selection:</a:t>
            </a:r>
          </a:p>
          <a:p>
            <a:endParaRPr lang="en-US" dirty="0">
              <a:latin typeface="Times New Roman" panose="02020603050405020304" pitchFamily="18" charset="0"/>
              <a:cs typeface="Times New Roman" panose="02020603050405020304" pitchFamily="18" charset="0"/>
            </a:endParaRPr>
          </a:p>
          <a:p>
            <a:pPr>
              <a:lnSpc>
                <a:spcPct val="150000"/>
              </a:lnSpc>
            </a:pPr>
            <a:r>
              <a:rPr lang="en-US" b="1" dirty="0"/>
              <a:t>Voice Recognition Module</a:t>
            </a:r>
            <a:br>
              <a:rPr lang="en-US" dirty="0"/>
            </a:br>
            <a:r>
              <a:rPr lang="en-US" dirty="0"/>
              <a:t>This module captures the user’s voice input and converts it into text using speech recognition technology. It allows visually impaired users to interact with the system without using a keyboard.</a:t>
            </a:r>
          </a:p>
          <a:p>
            <a:pPr>
              <a:lnSpc>
                <a:spcPct val="150000"/>
              </a:lnSpc>
            </a:pPr>
            <a:r>
              <a:rPr lang="en-US" b="1" dirty="0"/>
              <a:t>PDF Processing Module</a:t>
            </a:r>
            <a:br>
              <a:rPr lang="en-US" dirty="0"/>
            </a:br>
            <a:r>
              <a:rPr lang="en-US" dirty="0"/>
              <a:t>This module handles the uploaded PDF documents and extracts the text content. The extracted data is then prepared for further processing by the system.</a:t>
            </a:r>
          </a:p>
          <a:p>
            <a:pPr>
              <a:lnSpc>
                <a:spcPct val="150000"/>
              </a:lnSpc>
            </a:pPr>
            <a:r>
              <a:rPr lang="en-US" b="1" dirty="0"/>
              <a:t>Intent Recognition Module</a:t>
            </a:r>
            <a:br>
              <a:rPr lang="en-US" dirty="0"/>
            </a:br>
            <a:r>
              <a:rPr lang="en-US" dirty="0"/>
              <a:t>This module analyzes the user’s input and identifies what the user wants, such as summarization, explanation, or translation. It helps the system understand the user’s request clearly.</a:t>
            </a:r>
          </a:p>
          <a:p>
            <a:pPr>
              <a:lnSpc>
                <a:spcPct val="150000"/>
              </a:lnSpc>
            </a:pPr>
            <a:r>
              <a:rPr lang="en-US" b="1" dirty="0"/>
              <a:t>AI Response Module</a:t>
            </a:r>
            <a:br>
              <a:rPr lang="en-US" dirty="0"/>
            </a:br>
            <a:r>
              <a:rPr lang="en-US" dirty="0"/>
              <a:t>This module uses the AI model (Gemini API) to generate meaningful and context-based responses based on the user query and document content.</a:t>
            </a:r>
          </a:p>
        </p:txBody>
      </p:sp>
      <p:pic>
        <p:nvPicPr>
          <p:cNvPr id="6" name="image2.png">
            <a:extLst>
              <a:ext uri="{FF2B5EF4-FFF2-40B4-BE49-F238E27FC236}">
                <a16:creationId xmlns:a16="http://schemas.microsoft.com/office/drawing/2014/main" id="{D65C2E05-A7CB-83F2-EBFD-0AE917798DF4}"/>
              </a:ext>
            </a:extLst>
          </p:cNvPr>
          <p:cNvPicPr/>
          <p:nvPr/>
        </p:nvPicPr>
        <p:blipFill>
          <a:blip r:embed="rId2"/>
          <a:srcRect/>
          <a:stretch>
            <a:fillRect/>
          </a:stretch>
        </p:blipFill>
        <p:spPr>
          <a:xfrm>
            <a:off x="-9924" y="0"/>
            <a:ext cx="12201924" cy="1489977"/>
          </a:xfrm>
          <a:prstGeom prst="rect">
            <a:avLst/>
          </a:prstGeom>
        </p:spPr>
      </p:pic>
    </p:spTree>
    <p:extLst>
      <p:ext uri="{BB962C8B-B14F-4D97-AF65-F5344CB8AC3E}">
        <p14:creationId xmlns:p14="http://schemas.microsoft.com/office/powerpoint/2010/main" val="3321503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03B85-4734-DA81-6BC4-7FAF68C30F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DB9067-815A-12F6-7054-9DADDFC03D3F}"/>
              </a:ext>
            </a:extLst>
          </p:cNvPr>
          <p:cNvSpPr>
            <a:spLocks noGrp="1"/>
          </p:cNvSpPr>
          <p:nvPr>
            <p:ph type="ctrTitle"/>
          </p:nvPr>
        </p:nvSpPr>
        <p:spPr>
          <a:xfrm>
            <a:off x="1311349" y="1229360"/>
            <a:ext cx="9144000" cy="45719"/>
          </a:xfrm>
        </p:spPr>
        <p:txBody>
          <a:bodyPr>
            <a:normAutofit fontScale="90000"/>
          </a:bodyPr>
          <a:lstStyle/>
          <a:p>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36EE449-C0CD-FDE8-7A5C-7DBF23A5B587}"/>
              </a:ext>
            </a:extLst>
          </p:cNvPr>
          <p:cNvSpPr>
            <a:spLocks noGrp="1"/>
          </p:cNvSpPr>
          <p:nvPr>
            <p:ph type="subTitle" idx="1"/>
          </p:nvPr>
        </p:nvSpPr>
        <p:spPr>
          <a:xfrm>
            <a:off x="101600" y="0"/>
            <a:ext cx="11998960" cy="1229360"/>
          </a:xfrm>
        </p:spPr>
        <p:txBody>
          <a:bodyPr>
            <a:noAutofit/>
          </a:bodyPr>
          <a:lstStyle/>
          <a:p>
            <a:r>
              <a:rPr lang="en-US" sz="2500" dirty="0">
                <a:latin typeface="Times New Roman" panose="02020603050405020304" pitchFamily="18" charset="0"/>
                <a:cs typeface="Times New Roman" panose="02020603050405020304" pitchFamily="18" charset="0"/>
              </a:rPr>
              <a:t>2nd International Conference on Artificial Intelligence for Innovations in Healthcare Industries (ICAIIHI 2025)</a:t>
            </a:r>
          </a:p>
          <a:p>
            <a:r>
              <a:rPr lang="en-US" sz="1600" dirty="0">
                <a:latin typeface="Times New Roman" panose="02020603050405020304" pitchFamily="18" charset="0"/>
                <a:cs typeface="Times New Roman" panose="02020603050405020304" pitchFamily="18" charset="0"/>
              </a:rPr>
              <a:t>Technically Co-Sponsored by: IEEE Computer Society, IEEE Computer Society Technical Committee on Intelligent Informatics (TCII) </a:t>
            </a:r>
          </a:p>
          <a:p>
            <a:r>
              <a:rPr lang="en-US" sz="1600" dirty="0">
                <a:latin typeface="Times New Roman" panose="02020603050405020304" pitchFamily="18" charset="0"/>
                <a:cs typeface="Times New Roman" panose="02020603050405020304" pitchFamily="18" charset="0"/>
              </a:rPr>
              <a:t>Date: December 4  &amp; 5, 2025 (Hybrid Mode)</a:t>
            </a:r>
            <a:endParaRPr lang="en-IN" sz="16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9933E1F3-C77C-AB35-64F1-79818E1E12A2}"/>
              </a:ext>
            </a:extLst>
          </p:cNvPr>
          <p:cNvCxnSpPr>
            <a:cxnSpLocks/>
          </p:cNvCxnSpPr>
          <p:nvPr/>
        </p:nvCxnSpPr>
        <p:spPr>
          <a:xfrm>
            <a:off x="0" y="148336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Subtitle 2">
            <a:extLst>
              <a:ext uri="{FF2B5EF4-FFF2-40B4-BE49-F238E27FC236}">
                <a16:creationId xmlns:a16="http://schemas.microsoft.com/office/drawing/2014/main" id="{ADABD6C7-6720-E23B-5362-59C87208DC79}"/>
              </a:ext>
            </a:extLst>
          </p:cNvPr>
          <p:cNvSpPr txBox="1">
            <a:spLocks/>
          </p:cNvSpPr>
          <p:nvPr/>
        </p:nvSpPr>
        <p:spPr>
          <a:xfrm>
            <a:off x="0" y="2153920"/>
            <a:ext cx="12192000" cy="433832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D6A78B3-8EF2-77A9-0DA1-95EC43FE1BAC}"/>
              </a:ext>
            </a:extLst>
          </p:cNvPr>
          <p:cNvSpPr txBox="1"/>
          <p:nvPr/>
        </p:nvSpPr>
        <p:spPr>
          <a:xfrm>
            <a:off x="425302" y="2153920"/>
            <a:ext cx="11249247" cy="923330"/>
          </a:xfrm>
          <a:prstGeom prst="rect">
            <a:avLst/>
          </a:prstGeom>
          <a:noFill/>
        </p:spPr>
        <p:txBody>
          <a:bodyPr wrap="square" rtlCol="0">
            <a:spAutoFit/>
          </a:bodyPr>
          <a:lstStyle/>
          <a:p>
            <a:pPr marL="285750" indent="-285750">
              <a:buFont typeface="Arial" panose="020B0604020202020204" pitchFamily="34" charset="0"/>
              <a:buChar char="•"/>
            </a:pPr>
            <a:endParaRPr lang="en-IN" dirty="0"/>
          </a:p>
          <a:p>
            <a:endParaRPr lang="en-IN" dirty="0"/>
          </a:p>
          <a:p>
            <a:endParaRPr lang="en-IN" dirty="0"/>
          </a:p>
        </p:txBody>
      </p:sp>
      <p:pic>
        <p:nvPicPr>
          <p:cNvPr id="6" name="image2.png">
            <a:extLst>
              <a:ext uri="{FF2B5EF4-FFF2-40B4-BE49-F238E27FC236}">
                <a16:creationId xmlns:a16="http://schemas.microsoft.com/office/drawing/2014/main" id="{373830F8-AE62-BAEB-0BCC-CB88EE8EE592}"/>
              </a:ext>
            </a:extLst>
          </p:cNvPr>
          <p:cNvPicPr/>
          <p:nvPr/>
        </p:nvPicPr>
        <p:blipFill>
          <a:blip r:embed="rId2"/>
          <a:srcRect/>
          <a:stretch>
            <a:fillRect/>
          </a:stretch>
        </p:blipFill>
        <p:spPr>
          <a:xfrm>
            <a:off x="-9924" y="0"/>
            <a:ext cx="12201924" cy="1489977"/>
          </a:xfrm>
          <a:prstGeom prst="rect">
            <a:avLst/>
          </a:prstGeom>
        </p:spPr>
      </p:pic>
      <p:sp>
        <p:nvSpPr>
          <p:cNvPr id="7" name="TextBox 6">
            <a:extLst>
              <a:ext uri="{FF2B5EF4-FFF2-40B4-BE49-F238E27FC236}">
                <a16:creationId xmlns:a16="http://schemas.microsoft.com/office/drawing/2014/main" id="{02D73B55-EE6F-442C-87DA-060078BED734}"/>
              </a:ext>
            </a:extLst>
          </p:cNvPr>
          <p:cNvSpPr txBox="1"/>
          <p:nvPr/>
        </p:nvSpPr>
        <p:spPr>
          <a:xfrm>
            <a:off x="356558" y="1782792"/>
            <a:ext cx="11116574" cy="4108817"/>
          </a:xfrm>
          <a:prstGeom prst="rect">
            <a:avLst/>
          </a:prstGeom>
          <a:noFill/>
        </p:spPr>
        <p:txBody>
          <a:bodyPr wrap="square" rtlCol="0">
            <a:spAutoFit/>
          </a:bodyPr>
          <a:lstStyle/>
          <a:p>
            <a:pPr>
              <a:lnSpc>
                <a:spcPct val="150000"/>
              </a:lnSpc>
            </a:pPr>
            <a:r>
              <a:rPr lang="en-US" b="1" dirty="0"/>
              <a:t>Text-to-Speech Module</a:t>
            </a:r>
            <a:br>
              <a:rPr lang="en-US" dirty="0"/>
            </a:br>
            <a:r>
              <a:rPr lang="en-US" dirty="0"/>
              <a:t>This module converts the generated text response into audio output using text-to-speech technology, making it easy for users to listen and understand.</a:t>
            </a:r>
          </a:p>
          <a:p>
            <a:pPr>
              <a:lnSpc>
                <a:spcPct val="150000"/>
              </a:lnSpc>
            </a:pPr>
            <a:r>
              <a:rPr lang="en-US" b="1" dirty="0"/>
              <a:t>Frontend Module</a:t>
            </a:r>
            <a:br>
              <a:rPr lang="en-US" dirty="0"/>
            </a:br>
            <a:r>
              <a:rPr lang="en-US" dirty="0"/>
              <a:t>This module provides the user interface where users can interact with the system through voice commands and upload documents.</a:t>
            </a:r>
          </a:p>
          <a:p>
            <a:pPr>
              <a:lnSpc>
                <a:spcPct val="150000"/>
              </a:lnSpc>
            </a:pPr>
            <a:r>
              <a:rPr lang="en-US" b="1" dirty="0"/>
              <a:t>Backend Module</a:t>
            </a:r>
            <a:br>
              <a:rPr lang="en-US" dirty="0"/>
            </a:br>
            <a:r>
              <a:rPr lang="en-US" dirty="0"/>
              <a:t>This module manages the overall system operations, including processing requests, handling APIs, and connecting all modules together.</a:t>
            </a:r>
          </a:p>
          <a:p>
            <a:endParaRPr lang="en-IN" dirty="0"/>
          </a:p>
        </p:txBody>
      </p:sp>
    </p:spTree>
    <p:extLst>
      <p:ext uri="{BB962C8B-B14F-4D97-AF65-F5344CB8AC3E}">
        <p14:creationId xmlns:p14="http://schemas.microsoft.com/office/powerpoint/2010/main" val="543122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76280-0B1E-A475-E36E-09D757A2B2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CABCF5-E4B3-74B9-8F55-49D1F1425598}"/>
              </a:ext>
            </a:extLst>
          </p:cNvPr>
          <p:cNvSpPr>
            <a:spLocks noGrp="1"/>
          </p:cNvSpPr>
          <p:nvPr>
            <p:ph type="ctrTitle"/>
          </p:nvPr>
        </p:nvSpPr>
        <p:spPr>
          <a:xfrm>
            <a:off x="1311349" y="1229360"/>
            <a:ext cx="9144000" cy="924560"/>
          </a:xfrm>
        </p:spPr>
        <p:txBody>
          <a:bodyPr>
            <a:normAutofit/>
          </a:bodyPr>
          <a:lstStyle/>
          <a:p>
            <a:r>
              <a:rPr lang="en-US" sz="4400" dirty="0">
                <a:latin typeface="Times New Roman" panose="02020603050405020304" pitchFamily="18" charset="0"/>
                <a:cs typeface="Times New Roman" panose="02020603050405020304" pitchFamily="18" charset="0"/>
              </a:rPr>
              <a:t>Software Requirements</a:t>
            </a:r>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A7B1A86-8584-AA6E-1587-F2B28545A97C}"/>
              </a:ext>
            </a:extLst>
          </p:cNvPr>
          <p:cNvSpPr>
            <a:spLocks noGrp="1"/>
          </p:cNvSpPr>
          <p:nvPr>
            <p:ph type="subTitle" idx="1"/>
          </p:nvPr>
        </p:nvSpPr>
        <p:spPr>
          <a:xfrm>
            <a:off x="101600" y="0"/>
            <a:ext cx="11998960" cy="1229360"/>
          </a:xfrm>
        </p:spPr>
        <p:txBody>
          <a:bodyPr>
            <a:noAutofit/>
          </a:bodyPr>
          <a:lstStyle/>
          <a:p>
            <a:r>
              <a:rPr lang="en-US" sz="2500" dirty="0">
                <a:latin typeface="Times New Roman" panose="02020603050405020304" pitchFamily="18" charset="0"/>
                <a:cs typeface="Times New Roman" panose="02020603050405020304" pitchFamily="18" charset="0"/>
              </a:rPr>
              <a:t>2nd International Conference on Artificial Intelligence for Innovations in Healthcare Industries (ICAIIHI 2025)</a:t>
            </a:r>
          </a:p>
          <a:p>
            <a:r>
              <a:rPr lang="en-US" sz="1600" dirty="0">
                <a:latin typeface="Times New Roman" panose="02020603050405020304" pitchFamily="18" charset="0"/>
                <a:cs typeface="Times New Roman" panose="02020603050405020304" pitchFamily="18" charset="0"/>
              </a:rPr>
              <a:t>Technically Co-Sponsored by: IEEE Computer Society, IEEE Computer Society Technical Committee on Intelligent Informatics (TCII) </a:t>
            </a:r>
          </a:p>
          <a:p>
            <a:r>
              <a:rPr lang="en-US" sz="1600" dirty="0">
                <a:latin typeface="Times New Roman" panose="02020603050405020304" pitchFamily="18" charset="0"/>
                <a:cs typeface="Times New Roman" panose="02020603050405020304" pitchFamily="18" charset="0"/>
              </a:rPr>
              <a:t>Date: December 4  &amp; 5, 2025 (Hybrid Mode)</a:t>
            </a:r>
            <a:endParaRPr lang="en-IN" sz="16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E5CC4A61-623C-0F2D-EC9B-35803E1E5C32}"/>
              </a:ext>
            </a:extLst>
          </p:cNvPr>
          <p:cNvCxnSpPr>
            <a:cxnSpLocks/>
          </p:cNvCxnSpPr>
          <p:nvPr/>
        </p:nvCxnSpPr>
        <p:spPr>
          <a:xfrm>
            <a:off x="0" y="148336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Subtitle 2">
            <a:extLst>
              <a:ext uri="{FF2B5EF4-FFF2-40B4-BE49-F238E27FC236}">
                <a16:creationId xmlns:a16="http://schemas.microsoft.com/office/drawing/2014/main" id="{183EC237-3B51-ADC8-A814-899338B391C2}"/>
              </a:ext>
            </a:extLst>
          </p:cNvPr>
          <p:cNvSpPr txBox="1">
            <a:spLocks/>
          </p:cNvSpPr>
          <p:nvPr/>
        </p:nvSpPr>
        <p:spPr>
          <a:xfrm>
            <a:off x="0" y="2153920"/>
            <a:ext cx="12192000" cy="433832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1AC1022-8CB1-05B6-E2CB-40139311A8AC}"/>
              </a:ext>
            </a:extLst>
          </p:cNvPr>
          <p:cNvSpPr txBox="1"/>
          <p:nvPr/>
        </p:nvSpPr>
        <p:spPr>
          <a:xfrm>
            <a:off x="471376" y="2153920"/>
            <a:ext cx="11249247" cy="3693319"/>
          </a:xfrm>
          <a:prstGeom prst="rect">
            <a:avLst/>
          </a:prstGeom>
          <a:noFill/>
        </p:spPr>
        <p:txBody>
          <a:bodyPr wrap="square" rtlCol="0">
            <a:spAutoFit/>
          </a:bodyPr>
          <a:lstStyle/>
          <a:p>
            <a:r>
              <a:rPr lang="en-IN" b="1" dirty="0"/>
              <a:t>Programming Language</a:t>
            </a:r>
            <a:br>
              <a:rPr lang="en-IN" dirty="0"/>
            </a:br>
            <a:r>
              <a:rPr lang="en-IN" dirty="0"/>
              <a:t>  Python</a:t>
            </a:r>
          </a:p>
          <a:p>
            <a:r>
              <a:rPr lang="en-IN" b="1" dirty="0"/>
              <a:t>Frontend Technologies</a:t>
            </a:r>
            <a:br>
              <a:rPr lang="en-IN" dirty="0"/>
            </a:br>
            <a:r>
              <a:rPr lang="en-IN" dirty="0"/>
              <a:t>  HTML, CSS, JavaScript</a:t>
            </a:r>
          </a:p>
          <a:p>
            <a:r>
              <a:rPr lang="en-IN" b="1" dirty="0"/>
              <a:t>Libraries &amp; Frameworks</a:t>
            </a:r>
            <a:br>
              <a:rPr lang="en-IN" dirty="0"/>
            </a:br>
            <a:r>
              <a:rPr lang="en-IN" dirty="0"/>
              <a:t>  Flask (backend framework), </a:t>
            </a:r>
            <a:r>
              <a:rPr lang="en-IN" dirty="0" err="1"/>
              <a:t>SpeechRecognition</a:t>
            </a:r>
            <a:r>
              <a:rPr lang="en-IN" dirty="0"/>
              <a:t> / Web Speech API (voice input), </a:t>
            </a:r>
            <a:r>
              <a:rPr lang="en-IN" dirty="0" err="1"/>
              <a:t>gTTS</a:t>
            </a:r>
            <a:r>
              <a:rPr lang="en-IN" dirty="0"/>
              <a:t> (text-to-speech conversion), PyPDF2, </a:t>
            </a:r>
            <a:r>
              <a:rPr lang="en-IN" dirty="0" err="1"/>
              <a:t>pdfplumber</a:t>
            </a:r>
            <a:r>
              <a:rPr lang="en-IN" dirty="0"/>
              <a:t> (PDF processing), Tesseract OCR (optional text extraction)</a:t>
            </a:r>
          </a:p>
          <a:p>
            <a:r>
              <a:rPr lang="en-IN" b="1" dirty="0"/>
              <a:t>Artificial Intelligence</a:t>
            </a:r>
            <a:br>
              <a:rPr lang="en-IN" dirty="0"/>
            </a:br>
            <a:r>
              <a:rPr lang="en-IN" dirty="0"/>
              <a:t>  Google Gemini API (AI response generation)</a:t>
            </a:r>
          </a:p>
          <a:p>
            <a:r>
              <a:rPr lang="en-IN" b="1" dirty="0"/>
              <a:t>Tools &amp; Environment</a:t>
            </a:r>
            <a:br>
              <a:rPr lang="en-IN" dirty="0"/>
            </a:br>
            <a:r>
              <a:rPr lang="en-IN" dirty="0"/>
              <a:t>  Visual Studio Code</a:t>
            </a:r>
          </a:p>
          <a:p>
            <a:r>
              <a:rPr lang="en-IN" b="1" dirty="0"/>
              <a:t>Deployment</a:t>
            </a:r>
            <a:br>
              <a:rPr lang="en-IN" dirty="0"/>
            </a:br>
            <a:r>
              <a:rPr lang="en-IN" dirty="0"/>
              <a:t>  Flask Server</a:t>
            </a:r>
          </a:p>
        </p:txBody>
      </p:sp>
      <p:pic>
        <p:nvPicPr>
          <p:cNvPr id="6" name="image2.png">
            <a:extLst>
              <a:ext uri="{FF2B5EF4-FFF2-40B4-BE49-F238E27FC236}">
                <a16:creationId xmlns:a16="http://schemas.microsoft.com/office/drawing/2014/main" id="{BB5E10F8-CD1C-5C54-4384-B5747B36DB5D}"/>
              </a:ext>
            </a:extLst>
          </p:cNvPr>
          <p:cNvPicPr/>
          <p:nvPr/>
        </p:nvPicPr>
        <p:blipFill>
          <a:blip r:embed="rId2"/>
          <a:srcRect/>
          <a:stretch>
            <a:fillRect/>
          </a:stretch>
        </p:blipFill>
        <p:spPr>
          <a:xfrm>
            <a:off x="-9924" y="0"/>
            <a:ext cx="12201924" cy="1489977"/>
          </a:xfrm>
          <a:prstGeom prst="rect">
            <a:avLst/>
          </a:prstGeom>
        </p:spPr>
      </p:pic>
    </p:spTree>
    <p:extLst>
      <p:ext uri="{BB962C8B-B14F-4D97-AF65-F5344CB8AC3E}">
        <p14:creationId xmlns:p14="http://schemas.microsoft.com/office/powerpoint/2010/main" val="3424341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0D84B-56CE-9519-6D35-FFD80230FE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DCE9A1-3F44-6F56-2283-918FB9A97743}"/>
              </a:ext>
            </a:extLst>
          </p:cNvPr>
          <p:cNvSpPr>
            <a:spLocks noGrp="1"/>
          </p:cNvSpPr>
          <p:nvPr>
            <p:ph type="ctrTitle"/>
          </p:nvPr>
        </p:nvSpPr>
        <p:spPr>
          <a:xfrm>
            <a:off x="1311349" y="1229360"/>
            <a:ext cx="9144000" cy="924560"/>
          </a:xfrm>
        </p:spPr>
        <p:txBody>
          <a:bodyPr>
            <a:normAutofit/>
          </a:bodyPr>
          <a:lstStyle/>
          <a:p>
            <a:r>
              <a:rPr lang="en-US" sz="4400" dirty="0">
                <a:latin typeface="Times New Roman" panose="02020603050405020304" pitchFamily="18" charset="0"/>
                <a:cs typeface="Times New Roman" panose="02020603050405020304" pitchFamily="18" charset="0"/>
              </a:rPr>
              <a:t>System Architecture</a:t>
            </a:r>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15E4249-A5F6-E77B-9747-551E1E3FFF2E}"/>
              </a:ext>
            </a:extLst>
          </p:cNvPr>
          <p:cNvSpPr>
            <a:spLocks noGrp="1"/>
          </p:cNvSpPr>
          <p:nvPr>
            <p:ph type="subTitle" idx="1"/>
          </p:nvPr>
        </p:nvSpPr>
        <p:spPr>
          <a:xfrm>
            <a:off x="101600" y="0"/>
            <a:ext cx="11998960" cy="1229360"/>
          </a:xfrm>
        </p:spPr>
        <p:txBody>
          <a:bodyPr>
            <a:noAutofit/>
          </a:bodyPr>
          <a:lstStyle/>
          <a:p>
            <a:r>
              <a:rPr lang="en-US" sz="2500" dirty="0">
                <a:latin typeface="Times New Roman" panose="02020603050405020304" pitchFamily="18" charset="0"/>
                <a:cs typeface="Times New Roman" panose="02020603050405020304" pitchFamily="18" charset="0"/>
              </a:rPr>
              <a:t>2nd International Conference on Artificial Intelligence for Innovations in Healthcare Industries (ICAIIHI 2025)</a:t>
            </a:r>
          </a:p>
          <a:p>
            <a:r>
              <a:rPr lang="en-US" sz="1600" dirty="0">
                <a:latin typeface="Times New Roman" panose="02020603050405020304" pitchFamily="18" charset="0"/>
                <a:cs typeface="Times New Roman" panose="02020603050405020304" pitchFamily="18" charset="0"/>
              </a:rPr>
              <a:t>Technically Co-Sponsored by: IEEE Computer Society, IEEE Computer Society Technical Committee on Intelligent Informatics (TCII) </a:t>
            </a:r>
          </a:p>
          <a:p>
            <a:r>
              <a:rPr lang="en-US" sz="1600" dirty="0">
                <a:latin typeface="Times New Roman" panose="02020603050405020304" pitchFamily="18" charset="0"/>
                <a:cs typeface="Times New Roman" panose="02020603050405020304" pitchFamily="18" charset="0"/>
              </a:rPr>
              <a:t>Date: December 4  &amp; 5, 2025 (Hybrid Mode)</a:t>
            </a:r>
            <a:endParaRPr lang="en-IN" sz="16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9FE04EBC-1D8F-AF07-EB33-95E337BDF453}"/>
              </a:ext>
            </a:extLst>
          </p:cNvPr>
          <p:cNvCxnSpPr>
            <a:cxnSpLocks/>
          </p:cNvCxnSpPr>
          <p:nvPr/>
        </p:nvCxnSpPr>
        <p:spPr>
          <a:xfrm>
            <a:off x="0" y="148336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Subtitle 2">
            <a:extLst>
              <a:ext uri="{FF2B5EF4-FFF2-40B4-BE49-F238E27FC236}">
                <a16:creationId xmlns:a16="http://schemas.microsoft.com/office/drawing/2014/main" id="{003EEAEB-13E0-5A24-B634-95E2FC25AA75}"/>
              </a:ext>
            </a:extLst>
          </p:cNvPr>
          <p:cNvSpPr txBox="1">
            <a:spLocks/>
          </p:cNvSpPr>
          <p:nvPr/>
        </p:nvSpPr>
        <p:spPr>
          <a:xfrm>
            <a:off x="0" y="2153920"/>
            <a:ext cx="12192000" cy="433832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1600" dirty="0">
              <a:latin typeface="Times New Roman" panose="02020603050405020304" pitchFamily="18" charset="0"/>
              <a:cs typeface="Times New Roman" panose="02020603050405020304" pitchFamily="18" charset="0"/>
            </a:endParaRPr>
          </a:p>
        </p:txBody>
      </p:sp>
      <p:pic>
        <p:nvPicPr>
          <p:cNvPr id="6" name="image2.png">
            <a:extLst>
              <a:ext uri="{FF2B5EF4-FFF2-40B4-BE49-F238E27FC236}">
                <a16:creationId xmlns:a16="http://schemas.microsoft.com/office/drawing/2014/main" id="{BADE50D8-61F5-B31C-D926-D310B6576FB3}"/>
              </a:ext>
            </a:extLst>
          </p:cNvPr>
          <p:cNvPicPr/>
          <p:nvPr/>
        </p:nvPicPr>
        <p:blipFill>
          <a:blip r:embed="rId2"/>
          <a:srcRect/>
          <a:stretch>
            <a:fillRect/>
          </a:stretch>
        </p:blipFill>
        <p:spPr>
          <a:xfrm>
            <a:off x="-9924" y="0"/>
            <a:ext cx="12201924" cy="1489977"/>
          </a:xfrm>
          <a:prstGeom prst="rect">
            <a:avLst/>
          </a:prstGeom>
        </p:spPr>
      </p:pic>
      <p:pic>
        <p:nvPicPr>
          <p:cNvPr id="9" name="Picture 8">
            <a:extLst>
              <a:ext uri="{FF2B5EF4-FFF2-40B4-BE49-F238E27FC236}">
                <a16:creationId xmlns:a16="http://schemas.microsoft.com/office/drawing/2014/main" id="{600520D6-CECA-904B-C6B3-CEB3747770B2}"/>
              </a:ext>
            </a:extLst>
          </p:cNvPr>
          <p:cNvPicPr>
            <a:picLocks noChangeAspect="1"/>
          </p:cNvPicPr>
          <p:nvPr/>
        </p:nvPicPr>
        <p:blipFill>
          <a:blip r:embed="rId3"/>
          <a:stretch>
            <a:fillRect/>
          </a:stretch>
        </p:blipFill>
        <p:spPr>
          <a:xfrm>
            <a:off x="952500" y="2153920"/>
            <a:ext cx="10287000" cy="4704080"/>
          </a:xfrm>
          <a:prstGeom prst="rect">
            <a:avLst/>
          </a:prstGeom>
        </p:spPr>
      </p:pic>
    </p:spTree>
    <p:extLst>
      <p:ext uri="{BB962C8B-B14F-4D97-AF65-F5344CB8AC3E}">
        <p14:creationId xmlns:p14="http://schemas.microsoft.com/office/powerpoint/2010/main" val="3903813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002CD-BC89-2991-9CB0-365C5DFABD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2C3941-95FD-351A-D562-7EB003B35722}"/>
              </a:ext>
            </a:extLst>
          </p:cNvPr>
          <p:cNvSpPr>
            <a:spLocks noGrp="1"/>
          </p:cNvSpPr>
          <p:nvPr>
            <p:ph type="ctrTitle"/>
          </p:nvPr>
        </p:nvSpPr>
        <p:spPr>
          <a:xfrm>
            <a:off x="1311349" y="1229360"/>
            <a:ext cx="9144000" cy="924560"/>
          </a:xfrm>
        </p:spPr>
        <p:txBody>
          <a:bodyPr>
            <a:normAutofit/>
          </a:bodyPr>
          <a:lstStyle/>
          <a:p>
            <a:r>
              <a:rPr lang="en-IN" sz="4400" dirty="0">
                <a:latin typeface="Times New Roman" panose="02020603050405020304" pitchFamily="18" charset="0"/>
                <a:cs typeface="Times New Roman" panose="02020603050405020304" pitchFamily="18" charset="0"/>
              </a:rPr>
              <a:t>Flow Diagram</a:t>
            </a:r>
          </a:p>
        </p:txBody>
      </p:sp>
      <p:sp>
        <p:nvSpPr>
          <p:cNvPr id="3" name="Subtitle 2">
            <a:extLst>
              <a:ext uri="{FF2B5EF4-FFF2-40B4-BE49-F238E27FC236}">
                <a16:creationId xmlns:a16="http://schemas.microsoft.com/office/drawing/2014/main" id="{05AAFF0D-9F3D-439E-9E66-0EF084C9C7A5}"/>
              </a:ext>
            </a:extLst>
          </p:cNvPr>
          <p:cNvSpPr>
            <a:spLocks noGrp="1"/>
          </p:cNvSpPr>
          <p:nvPr>
            <p:ph type="subTitle" idx="1"/>
          </p:nvPr>
        </p:nvSpPr>
        <p:spPr>
          <a:xfrm>
            <a:off x="101600" y="0"/>
            <a:ext cx="11998960" cy="1229360"/>
          </a:xfrm>
        </p:spPr>
        <p:txBody>
          <a:bodyPr>
            <a:noAutofit/>
          </a:bodyPr>
          <a:lstStyle/>
          <a:p>
            <a:r>
              <a:rPr lang="en-US" sz="2500" dirty="0">
                <a:latin typeface="Times New Roman" panose="02020603050405020304" pitchFamily="18" charset="0"/>
                <a:cs typeface="Times New Roman" panose="02020603050405020304" pitchFamily="18" charset="0"/>
              </a:rPr>
              <a:t>2nd International Conference on Artificial Intelligence for Innovations in Healthcare Industries (ICAIIHI 2025)</a:t>
            </a:r>
          </a:p>
          <a:p>
            <a:r>
              <a:rPr lang="en-US" sz="1600" dirty="0">
                <a:latin typeface="Times New Roman" panose="02020603050405020304" pitchFamily="18" charset="0"/>
                <a:cs typeface="Times New Roman" panose="02020603050405020304" pitchFamily="18" charset="0"/>
              </a:rPr>
              <a:t>Technically Co-Sponsored by: IEEE Computer Society, IEEE Computer Society Technical Committee on Intelligent Informatics (TCII) </a:t>
            </a:r>
          </a:p>
          <a:p>
            <a:r>
              <a:rPr lang="en-US" sz="1600" dirty="0">
                <a:latin typeface="Times New Roman" panose="02020603050405020304" pitchFamily="18" charset="0"/>
                <a:cs typeface="Times New Roman" panose="02020603050405020304" pitchFamily="18" charset="0"/>
              </a:rPr>
              <a:t>Date: December 4  &amp; 5, 2025 (Hybrid Mode)</a:t>
            </a:r>
            <a:endParaRPr lang="en-IN" sz="16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30A4307A-0288-8116-6397-E39E02F477A4}"/>
              </a:ext>
            </a:extLst>
          </p:cNvPr>
          <p:cNvCxnSpPr>
            <a:cxnSpLocks/>
          </p:cNvCxnSpPr>
          <p:nvPr/>
        </p:nvCxnSpPr>
        <p:spPr>
          <a:xfrm>
            <a:off x="0" y="148336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Subtitle 2">
            <a:extLst>
              <a:ext uri="{FF2B5EF4-FFF2-40B4-BE49-F238E27FC236}">
                <a16:creationId xmlns:a16="http://schemas.microsoft.com/office/drawing/2014/main" id="{80BEE686-C660-DD36-6551-6AF69C932CDF}"/>
              </a:ext>
            </a:extLst>
          </p:cNvPr>
          <p:cNvSpPr txBox="1">
            <a:spLocks/>
          </p:cNvSpPr>
          <p:nvPr/>
        </p:nvSpPr>
        <p:spPr>
          <a:xfrm>
            <a:off x="0" y="2153920"/>
            <a:ext cx="12192000" cy="433832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1600" dirty="0">
              <a:latin typeface="Times New Roman" panose="02020603050405020304" pitchFamily="18" charset="0"/>
              <a:cs typeface="Times New Roman" panose="02020603050405020304" pitchFamily="18" charset="0"/>
            </a:endParaRPr>
          </a:p>
        </p:txBody>
      </p:sp>
      <p:pic>
        <p:nvPicPr>
          <p:cNvPr id="6" name="image2.png">
            <a:extLst>
              <a:ext uri="{FF2B5EF4-FFF2-40B4-BE49-F238E27FC236}">
                <a16:creationId xmlns:a16="http://schemas.microsoft.com/office/drawing/2014/main" id="{F7D0418A-7367-453D-85E6-939578DD4205}"/>
              </a:ext>
            </a:extLst>
          </p:cNvPr>
          <p:cNvPicPr/>
          <p:nvPr/>
        </p:nvPicPr>
        <p:blipFill>
          <a:blip r:embed="rId2"/>
          <a:srcRect/>
          <a:stretch>
            <a:fillRect/>
          </a:stretch>
        </p:blipFill>
        <p:spPr>
          <a:xfrm>
            <a:off x="-9924" y="0"/>
            <a:ext cx="12201924" cy="1489977"/>
          </a:xfrm>
          <a:prstGeom prst="rect">
            <a:avLst/>
          </a:prstGeom>
        </p:spPr>
      </p:pic>
      <p:pic>
        <p:nvPicPr>
          <p:cNvPr id="9" name="Picture 8">
            <a:extLst>
              <a:ext uri="{FF2B5EF4-FFF2-40B4-BE49-F238E27FC236}">
                <a16:creationId xmlns:a16="http://schemas.microsoft.com/office/drawing/2014/main" id="{51F25108-0325-9003-BBAD-7155FB0DB5AE}"/>
              </a:ext>
            </a:extLst>
          </p:cNvPr>
          <p:cNvPicPr>
            <a:picLocks noChangeAspect="1"/>
          </p:cNvPicPr>
          <p:nvPr/>
        </p:nvPicPr>
        <p:blipFill>
          <a:blip r:embed="rId3"/>
          <a:stretch>
            <a:fillRect/>
          </a:stretch>
        </p:blipFill>
        <p:spPr>
          <a:xfrm>
            <a:off x="101600" y="2030451"/>
            <a:ext cx="12192000" cy="4596760"/>
          </a:xfrm>
          <a:prstGeom prst="rect">
            <a:avLst/>
          </a:prstGeom>
        </p:spPr>
      </p:pic>
    </p:spTree>
    <p:extLst>
      <p:ext uri="{BB962C8B-B14F-4D97-AF65-F5344CB8AC3E}">
        <p14:creationId xmlns:p14="http://schemas.microsoft.com/office/powerpoint/2010/main" val="494095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01142-C660-0971-F74D-10DDA0E16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193EC-E146-A7C4-840C-19D41B4C1A12}"/>
              </a:ext>
            </a:extLst>
          </p:cNvPr>
          <p:cNvSpPr>
            <a:spLocks noGrp="1"/>
          </p:cNvSpPr>
          <p:nvPr>
            <p:ph type="ctrTitle"/>
          </p:nvPr>
        </p:nvSpPr>
        <p:spPr>
          <a:xfrm>
            <a:off x="1311349" y="1229360"/>
            <a:ext cx="9144000" cy="924560"/>
          </a:xfrm>
        </p:spPr>
        <p:txBody>
          <a:bodyPr>
            <a:normAutofit/>
          </a:bodyPr>
          <a:lstStyle/>
          <a:p>
            <a:r>
              <a:rPr lang="en-US" sz="4400" dirty="0">
                <a:latin typeface="Times New Roman" panose="02020603050405020304" pitchFamily="18" charset="0"/>
                <a:cs typeface="Times New Roman" panose="02020603050405020304" pitchFamily="18" charset="0"/>
              </a:rPr>
              <a:t>UML diagram</a:t>
            </a:r>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CA8946D-3A73-BB8C-36B4-F4C4F1ACEB4C}"/>
              </a:ext>
            </a:extLst>
          </p:cNvPr>
          <p:cNvSpPr>
            <a:spLocks noGrp="1"/>
          </p:cNvSpPr>
          <p:nvPr>
            <p:ph type="subTitle" idx="1"/>
          </p:nvPr>
        </p:nvSpPr>
        <p:spPr>
          <a:xfrm>
            <a:off x="101600" y="0"/>
            <a:ext cx="11998960" cy="1229360"/>
          </a:xfrm>
        </p:spPr>
        <p:txBody>
          <a:bodyPr>
            <a:noAutofit/>
          </a:bodyPr>
          <a:lstStyle/>
          <a:p>
            <a:r>
              <a:rPr lang="en-US" sz="2500" dirty="0">
                <a:latin typeface="Times New Roman" panose="02020603050405020304" pitchFamily="18" charset="0"/>
                <a:cs typeface="Times New Roman" panose="02020603050405020304" pitchFamily="18" charset="0"/>
              </a:rPr>
              <a:t>2nd International Conference on Artificial Intelligence for Innovations in Healthcare Industries (ICAIIHI 2025)</a:t>
            </a:r>
          </a:p>
          <a:p>
            <a:r>
              <a:rPr lang="en-US" sz="1600" dirty="0">
                <a:latin typeface="Times New Roman" panose="02020603050405020304" pitchFamily="18" charset="0"/>
                <a:cs typeface="Times New Roman" panose="02020603050405020304" pitchFamily="18" charset="0"/>
              </a:rPr>
              <a:t>Technically Co-Sponsored by: IEEE Computer Society, IEEE Computer Society Technical Committee on Intelligent Informatics (TCII) </a:t>
            </a:r>
          </a:p>
          <a:p>
            <a:r>
              <a:rPr lang="en-US" sz="1600" dirty="0">
                <a:latin typeface="Times New Roman" panose="02020603050405020304" pitchFamily="18" charset="0"/>
                <a:cs typeface="Times New Roman" panose="02020603050405020304" pitchFamily="18" charset="0"/>
              </a:rPr>
              <a:t>Date: December 4  &amp; 5, 2025 (Hybrid Mode)</a:t>
            </a:r>
            <a:endParaRPr lang="en-IN" sz="16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333576E7-CAAA-49B0-9713-A079DE4F29D4}"/>
              </a:ext>
            </a:extLst>
          </p:cNvPr>
          <p:cNvCxnSpPr>
            <a:cxnSpLocks/>
          </p:cNvCxnSpPr>
          <p:nvPr/>
        </p:nvCxnSpPr>
        <p:spPr>
          <a:xfrm>
            <a:off x="0" y="148336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Subtitle 2">
            <a:extLst>
              <a:ext uri="{FF2B5EF4-FFF2-40B4-BE49-F238E27FC236}">
                <a16:creationId xmlns:a16="http://schemas.microsoft.com/office/drawing/2014/main" id="{3FB7D737-66D6-0F57-CCA9-C87FCB321E19}"/>
              </a:ext>
            </a:extLst>
          </p:cNvPr>
          <p:cNvSpPr txBox="1">
            <a:spLocks/>
          </p:cNvSpPr>
          <p:nvPr/>
        </p:nvSpPr>
        <p:spPr>
          <a:xfrm>
            <a:off x="0" y="2153920"/>
            <a:ext cx="12192000" cy="433832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1600" dirty="0">
              <a:latin typeface="Times New Roman" panose="02020603050405020304" pitchFamily="18" charset="0"/>
              <a:cs typeface="Times New Roman" panose="02020603050405020304" pitchFamily="18" charset="0"/>
            </a:endParaRPr>
          </a:p>
        </p:txBody>
      </p:sp>
      <p:pic>
        <p:nvPicPr>
          <p:cNvPr id="6" name="image2.png">
            <a:extLst>
              <a:ext uri="{FF2B5EF4-FFF2-40B4-BE49-F238E27FC236}">
                <a16:creationId xmlns:a16="http://schemas.microsoft.com/office/drawing/2014/main" id="{E095A7D1-00D1-0EBA-6073-4AA8296B97A0}"/>
              </a:ext>
            </a:extLst>
          </p:cNvPr>
          <p:cNvPicPr/>
          <p:nvPr/>
        </p:nvPicPr>
        <p:blipFill>
          <a:blip r:embed="rId2"/>
          <a:srcRect/>
          <a:stretch>
            <a:fillRect/>
          </a:stretch>
        </p:blipFill>
        <p:spPr>
          <a:xfrm>
            <a:off x="-9924" y="0"/>
            <a:ext cx="12201924" cy="1489977"/>
          </a:xfrm>
          <a:prstGeom prst="rect">
            <a:avLst/>
          </a:prstGeom>
        </p:spPr>
      </p:pic>
      <p:pic>
        <p:nvPicPr>
          <p:cNvPr id="9" name="Picture 8">
            <a:extLst>
              <a:ext uri="{FF2B5EF4-FFF2-40B4-BE49-F238E27FC236}">
                <a16:creationId xmlns:a16="http://schemas.microsoft.com/office/drawing/2014/main" id="{B7D7A8E5-5670-98B1-4729-82B387834582}"/>
              </a:ext>
            </a:extLst>
          </p:cNvPr>
          <p:cNvPicPr>
            <a:picLocks noChangeAspect="1"/>
          </p:cNvPicPr>
          <p:nvPr/>
        </p:nvPicPr>
        <p:blipFill>
          <a:blip r:embed="rId3"/>
          <a:stretch>
            <a:fillRect/>
          </a:stretch>
        </p:blipFill>
        <p:spPr>
          <a:xfrm>
            <a:off x="952500" y="2208361"/>
            <a:ext cx="10287000" cy="4655389"/>
          </a:xfrm>
          <a:prstGeom prst="rect">
            <a:avLst/>
          </a:prstGeom>
        </p:spPr>
      </p:pic>
    </p:spTree>
    <p:extLst>
      <p:ext uri="{BB962C8B-B14F-4D97-AF65-F5344CB8AC3E}">
        <p14:creationId xmlns:p14="http://schemas.microsoft.com/office/powerpoint/2010/main" val="2899873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BBECA-D09D-8CFE-53FB-DDE7EC379B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90C736-F0AF-9D6A-EE51-5F4BDAF74F11}"/>
              </a:ext>
            </a:extLst>
          </p:cNvPr>
          <p:cNvSpPr>
            <a:spLocks noGrp="1"/>
          </p:cNvSpPr>
          <p:nvPr>
            <p:ph type="ctrTitle"/>
          </p:nvPr>
        </p:nvSpPr>
        <p:spPr>
          <a:xfrm>
            <a:off x="1311349" y="1229360"/>
            <a:ext cx="9144000" cy="924560"/>
          </a:xfrm>
        </p:spPr>
        <p:txBody>
          <a:bodyPr>
            <a:normAutofit/>
          </a:bodyPr>
          <a:lstStyle/>
          <a:p>
            <a:r>
              <a:rPr lang="en-US" sz="4400" dirty="0">
                <a:latin typeface="Times New Roman" panose="02020603050405020304" pitchFamily="18" charset="0"/>
                <a:cs typeface="Times New Roman" panose="02020603050405020304" pitchFamily="18" charset="0"/>
              </a:rPr>
              <a:t>Results</a:t>
            </a:r>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7AF0C94-CCF6-8CA5-6459-561EB91EFE91}"/>
              </a:ext>
            </a:extLst>
          </p:cNvPr>
          <p:cNvSpPr>
            <a:spLocks noGrp="1"/>
          </p:cNvSpPr>
          <p:nvPr>
            <p:ph type="subTitle" idx="1"/>
          </p:nvPr>
        </p:nvSpPr>
        <p:spPr>
          <a:xfrm>
            <a:off x="101600" y="0"/>
            <a:ext cx="11998960" cy="1229360"/>
          </a:xfrm>
        </p:spPr>
        <p:txBody>
          <a:bodyPr>
            <a:noAutofit/>
          </a:bodyPr>
          <a:lstStyle/>
          <a:p>
            <a:r>
              <a:rPr lang="en-US" sz="2500" dirty="0">
                <a:latin typeface="Times New Roman" panose="02020603050405020304" pitchFamily="18" charset="0"/>
                <a:cs typeface="Times New Roman" panose="02020603050405020304" pitchFamily="18" charset="0"/>
              </a:rPr>
              <a:t>2nd International Conference on Artificial Intelligence for Innovations in Healthcare Industries (ICAIIHI 2025)</a:t>
            </a:r>
          </a:p>
          <a:p>
            <a:r>
              <a:rPr lang="en-US" sz="1600" dirty="0">
                <a:latin typeface="Times New Roman" panose="02020603050405020304" pitchFamily="18" charset="0"/>
                <a:cs typeface="Times New Roman" panose="02020603050405020304" pitchFamily="18" charset="0"/>
              </a:rPr>
              <a:t>Technically Co-Sponsored by: IEEE Computer Society, IEEE Computer Society Technical Committee on Intelligent Informatics (TCII) </a:t>
            </a:r>
          </a:p>
          <a:p>
            <a:r>
              <a:rPr lang="en-US" sz="1600" dirty="0">
                <a:latin typeface="Times New Roman" panose="02020603050405020304" pitchFamily="18" charset="0"/>
                <a:cs typeface="Times New Roman" panose="02020603050405020304" pitchFamily="18" charset="0"/>
              </a:rPr>
              <a:t>Date: December 4  &amp; 5, 2025 (Hybrid Mode)</a:t>
            </a:r>
            <a:endParaRPr lang="en-IN" sz="16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2201984C-A2B0-FE7C-AEE8-CE1DDE34F6B1}"/>
              </a:ext>
            </a:extLst>
          </p:cNvPr>
          <p:cNvCxnSpPr>
            <a:cxnSpLocks/>
          </p:cNvCxnSpPr>
          <p:nvPr/>
        </p:nvCxnSpPr>
        <p:spPr>
          <a:xfrm>
            <a:off x="0" y="148336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Subtitle 2">
            <a:extLst>
              <a:ext uri="{FF2B5EF4-FFF2-40B4-BE49-F238E27FC236}">
                <a16:creationId xmlns:a16="http://schemas.microsoft.com/office/drawing/2014/main" id="{31CB105B-559D-FD67-421D-907C80482A84}"/>
              </a:ext>
            </a:extLst>
          </p:cNvPr>
          <p:cNvSpPr txBox="1">
            <a:spLocks/>
          </p:cNvSpPr>
          <p:nvPr/>
        </p:nvSpPr>
        <p:spPr>
          <a:xfrm>
            <a:off x="0" y="2153920"/>
            <a:ext cx="12192000" cy="433832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1600" dirty="0">
              <a:latin typeface="Times New Roman" panose="02020603050405020304" pitchFamily="18" charset="0"/>
              <a:cs typeface="Times New Roman" panose="02020603050405020304" pitchFamily="18" charset="0"/>
            </a:endParaRPr>
          </a:p>
        </p:txBody>
      </p:sp>
      <p:pic>
        <p:nvPicPr>
          <p:cNvPr id="4" name="image2.png">
            <a:extLst>
              <a:ext uri="{FF2B5EF4-FFF2-40B4-BE49-F238E27FC236}">
                <a16:creationId xmlns:a16="http://schemas.microsoft.com/office/drawing/2014/main" id="{1DCA5C97-BEFC-E546-2674-4CFD3E03FFFF}"/>
              </a:ext>
            </a:extLst>
          </p:cNvPr>
          <p:cNvPicPr/>
          <p:nvPr/>
        </p:nvPicPr>
        <p:blipFill>
          <a:blip r:embed="rId2"/>
          <a:srcRect/>
          <a:stretch>
            <a:fillRect/>
          </a:stretch>
        </p:blipFill>
        <p:spPr>
          <a:xfrm>
            <a:off x="-9924" y="0"/>
            <a:ext cx="12201924" cy="1489977"/>
          </a:xfrm>
          <a:prstGeom prst="rect">
            <a:avLst/>
          </a:prstGeom>
        </p:spPr>
      </p:pic>
      <p:sp>
        <p:nvSpPr>
          <p:cNvPr id="7" name="TextBox 6">
            <a:extLst>
              <a:ext uri="{FF2B5EF4-FFF2-40B4-BE49-F238E27FC236}">
                <a16:creationId xmlns:a16="http://schemas.microsoft.com/office/drawing/2014/main" id="{3C2E07A2-FEFD-93CA-91E3-592B93AC932A}"/>
              </a:ext>
            </a:extLst>
          </p:cNvPr>
          <p:cNvSpPr txBox="1"/>
          <p:nvPr/>
        </p:nvSpPr>
        <p:spPr>
          <a:xfrm>
            <a:off x="960408" y="2271623"/>
            <a:ext cx="10248181" cy="462286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The AI based voice tutor system was developed and tested to help visually impaired students in learning. </a:t>
            </a:r>
          </a:p>
          <a:p>
            <a:pPr marL="285750" indent="-285750">
              <a:lnSpc>
                <a:spcPct val="150000"/>
              </a:lnSpc>
              <a:buFont typeface="Arial" panose="020B0604020202020204" pitchFamily="34" charset="0"/>
              <a:buChar char="•"/>
            </a:pPr>
            <a:r>
              <a:rPr lang="en-US" dirty="0"/>
              <a:t>The system takes voice input from the user, converts it into text, processes it using AI and gives the response in voice format, so it is easy to understand. </a:t>
            </a:r>
          </a:p>
          <a:p>
            <a:pPr marL="285750" indent="-285750">
              <a:lnSpc>
                <a:spcPct val="150000"/>
              </a:lnSpc>
              <a:buFont typeface="Arial" panose="020B0604020202020204" pitchFamily="34" charset="0"/>
              <a:buChar char="•"/>
            </a:pPr>
            <a:r>
              <a:rPr lang="en-US" dirty="0"/>
              <a:t>It also supports PDF input where users can upload study materials and get explanations in a simple way. </a:t>
            </a:r>
          </a:p>
          <a:p>
            <a:pPr marL="285750" indent="-285750">
              <a:lnSpc>
                <a:spcPct val="150000"/>
              </a:lnSpc>
              <a:buFont typeface="Arial" panose="020B0604020202020204" pitchFamily="34" charset="0"/>
              <a:buChar char="•"/>
            </a:pPr>
            <a:r>
              <a:rPr lang="en-US" dirty="0"/>
              <a:t>During testing, the system worked well and was able to give accurate responses most of the time.</a:t>
            </a:r>
          </a:p>
          <a:p>
            <a:pPr marL="285750" indent="-285750">
              <a:lnSpc>
                <a:spcPct val="150000"/>
              </a:lnSpc>
              <a:buFont typeface="Arial" panose="020B0604020202020204" pitchFamily="34" charset="0"/>
              <a:buChar char="•"/>
            </a:pPr>
            <a:r>
              <a:rPr lang="en-US" dirty="0"/>
              <a:t> It helps students learn independently without depending on others and makes learning more interactive. </a:t>
            </a:r>
          </a:p>
          <a:p>
            <a:pPr marL="285750" indent="-285750">
              <a:lnSpc>
                <a:spcPct val="150000"/>
              </a:lnSpc>
              <a:buFont typeface="Arial" panose="020B0604020202020204" pitchFamily="34" charset="0"/>
              <a:buChar char="•"/>
            </a:pPr>
            <a:r>
              <a:rPr lang="en-US" dirty="0"/>
              <a:t>However, there are still some improvements needed like better speech recognition and faster response time.</a:t>
            </a:r>
            <a:endParaRPr lang="en-IN" dirty="0"/>
          </a:p>
        </p:txBody>
      </p:sp>
    </p:spTree>
    <p:extLst>
      <p:ext uri="{BB962C8B-B14F-4D97-AF65-F5344CB8AC3E}">
        <p14:creationId xmlns:p14="http://schemas.microsoft.com/office/powerpoint/2010/main" val="1573971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FC95F-ABD5-E206-D1DC-40F665B170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D8C1F9-AC12-C4FD-E026-EFAFCF65DC12}"/>
              </a:ext>
            </a:extLst>
          </p:cNvPr>
          <p:cNvSpPr>
            <a:spLocks noGrp="1"/>
          </p:cNvSpPr>
          <p:nvPr>
            <p:ph type="ctrTitle"/>
          </p:nvPr>
        </p:nvSpPr>
        <p:spPr>
          <a:xfrm>
            <a:off x="1311349" y="1229360"/>
            <a:ext cx="9144000" cy="924560"/>
          </a:xfrm>
        </p:spPr>
        <p:txBody>
          <a:bodyPr>
            <a:normAutofit/>
          </a:bodyPr>
          <a:lstStyle/>
          <a:p>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2B94348-EAA7-260B-FB18-1DC13836981A}"/>
              </a:ext>
            </a:extLst>
          </p:cNvPr>
          <p:cNvSpPr>
            <a:spLocks noGrp="1"/>
          </p:cNvSpPr>
          <p:nvPr>
            <p:ph type="subTitle" idx="1"/>
          </p:nvPr>
        </p:nvSpPr>
        <p:spPr>
          <a:xfrm>
            <a:off x="101600" y="0"/>
            <a:ext cx="11998960" cy="1229360"/>
          </a:xfrm>
        </p:spPr>
        <p:txBody>
          <a:bodyPr>
            <a:noAutofit/>
          </a:bodyPr>
          <a:lstStyle/>
          <a:p>
            <a:r>
              <a:rPr lang="en-US" sz="2500" dirty="0">
                <a:latin typeface="Times New Roman" panose="02020603050405020304" pitchFamily="18" charset="0"/>
                <a:cs typeface="Times New Roman" panose="02020603050405020304" pitchFamily="18" charset="0"/>
              </a:rPr>
              <a:t>2nd International Conference on Artificial Intelligence for Innovations in Healthcare Industries (ICAIIHI 2025)</a:t>
            </a:r>
          </a:p>
          <a:p>
            <a:r>
              <a:rPr lang="en-US" sz="1600" dirty="0">
                <a:latin typeface="Times New Roman" panose="02020603050405020304" pitchFamily="18" charset="0"/>
                <a:cs typeface="Times New Roman" panose="02020603050405020304" pitchFamily="18" charset="0"/>
              </a:rPr>
              <a:t>Technically Co-Sponsored by: IEEE Computer Society, IEEE Computer Society Technical Committee on Intelligent Informatics (TCII) </a:t>
            </a:r>
          </a:p>
          <a:p>
            <a:r>
              <a:rPr lang="en-US" sz="1600" dirty="0">
                <a:latin typeface="Times New Roman" panose="02020603050405020304" pitchFamily="18" charset="0"/>
                <a:cs typeface="Times New Roman" panose="02020603050405020304" pitchFamily="18" charset="0"/>
              </a:rPr>
              <a:t>Date: December 4  &amp; 5, 2025 (Hybrid Mode)</a:t>
            </a:r>
            <a:endParaRPr lang="en-IN" sz="16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215D1EE3-ED1F-EBC6-5BBA-F5956716D11E}"/>
              </a:ext>
            </a:extLst>
          </p:cNvPr>
          <p:cNvCxnSpPr>
            <a:cxnSpLocks/>
          </p:cNvCxnSpPr>
          <p:nvPr/>
        </p:nvCxnSpPr>
        <p:spPr>
          <a:xfrm>
            <a:off x="0" y="148336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Subtitle 2">
            <a:extLst>
              <a:ext uri="{FF2B5EF4-FFF2-40B4-BE49-F238E27FC236}">
                <a16:creationId xmlns:a16="http://schemas.microsoft.com/office/drawing/2014/main" id="{956D7CE4-2DBC-2DE3-1BD6-39F307D1CD5E}"/>
              </a:ext>
            </a:extLst>
          </p:cNvPr>
          <p:cNvSpPr txBox="1">
            <a:spLocks/>
          </p:cNvSpPr>
          <p:nvPr/>
        </p:nvSpPr>
        <p:spPr>
          <a:xfrm>
            <a:off x="0" y="2153920"/>
            <a:ext cx="12192000" cy="433832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1600" dirty="0">
              <a:latin typeface="Times New Roman" panose="02020603050405020304" pitchFamily="18" charset="0"/>
              <a:cs typeface="Times New Roman" panose="02020603050405020304" pitchFamily="18" charset="0"/>
            </a:endParaRPr>
          </a:p>
        </p:txBody>
      </p:sp>
      <p:pic>
        <p:nvPicPr>
          <p:cNvPr id="4" name="image2.png">
            <a:extLst>
              <a:ext uri="{FF2B5EF4-FFF2-40B4-BE49-F238E27FC236}">
                <a16:creationId xmlns:a16="http://schemas.microsoft.com/office/drawing/2014/main" id="{E2CDF93C-FE82-5A1C-76E7-E1AD8BDA5523}"/>
              </a:ext>
            </a:extLst>
          </p:cNvPr>
          <p:cNvPicPr/>
          <p:nvPr/>
        </p:nvPicPr>
        <p:blipFill>
          <a:blip r:embed="rId2"/>
          <a:srcRect/>
          <a:stretch>
            <a:fillRect/>
          </a:stretch>
        </p:blipFill>
        <p:spPr>
          <a:xfrm>
            <a:off x="-9924" y="0"/>
            <a:ext cx="12201924" cy="1489977"/>
          </a:xfrm>
          <a:prstGeom prst="rect">
            <a:avLst/>
          </a:prstGeom>
        </p:spPr>
      </p:pic>
      <p:pic>
        <p:nvPicPr>
          <p:cNvPr id="9" name="Picture 8">
            <a:extLst>
              <a:ext uri="{FF2B5EF4-FFF2-40B4-BE49-F238E27FC236}">
                <a16:creationId xmlns:a16="http://schemas.microsoft.com/office/drawing/2014/main" id="{392DB3CA-FD32-32D1-4F9E-8D685F3C52B6}"/>
              </a:ext>
            </a:extLst>
          </p:cNvPr>
          <p:cNvPicPr>
            <a:picLocks noChangeAspect="1"/>
          </p:cNvPicPr>
          <p:nvPr/>
        </p:nvPicPr>
        <p:blipFill>
          <a:blip r:embed="rId3"/>
          <a:stretch>
            <a:fillRect/>
          </a:stretch>
        </p:blipFill>
        <p:spPr>
          <a:xfrm>
            <a:off x="77041" y="1476744"/>
            <a:ext cx="12037917" cy="5381255"/>
          </a:xfrm>
          <a:prstGeom prst="rect">
            <a:avLst/>
          </a:prstGeom>
        </p:spPr>
      </p:pic>
    </p:spTree>
    <p:extLst>
      <p:ext uri="{BB962C8B-B14F-4D97-AF65-F5344CB8AC3E}">
        <p14:creationId xmlns:p14="http://schemas.microsoft.com/office/powerpoint/2010/main" val="3651826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C5D7B-F92B-A45D-2C88-D957953DA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AC247-29BB-91AD-95DA-D3A26619D702}"/>
              </a:ext>
            </a:extLst>
          </p:cNvPr>
          <p:cNvSpPr>
            <a:spLocks noGrp="1"/>
          </p:cNvSpPr>
          <p:nvPr>
            <p:ph type="ctrTitle"/>
          </p:nvPr>
        </p:nvSpPr>
        <p:spPr>
          <a:xfrm>
            <a:off x="1311349" y="1229360"/>
            <a:ext cx="9144000" cy="924560"/>
          </a:xfrm>
        </p:spPr>
        <p:txBody>
          <a:bodyPr>
            <a:normAutofit/>
          </a:bodyPr>
          <a:lstStyle/>
          <a:p>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DE5235D-A7C0-FFFC-22F6-DE870A1E34B5}"/>
              </a:ext>
            </a:extLst>
          </p:cNvPr>
          <p:cNvSpPr>
            <a:spLocks noGrp="1"/>
          </p:cNvSpPr>
          <p:nvPr>
            <p:ph type="subTitle" idx="1"/>
          </p:nvPr>
        </p:nvSpPr>
        <p:spPr>
          <a:xfrm>
            <a:off x="101600" y="0"/>
            <a:ext cx="11998960" cy="1229360"/>
          </a:xfrm>
        </p:spPr>
        <p:txBody>
          <a:bodyPr>
            <a:noAutofit/>
          </a:bodyPr>
          <a:lstStyle/>
          <a:p>
            <a:r>
              <a:rPr lang="en-US" sz="2500" dirty="0">
                <a:latin typeface="Times New Roman" panose="02020603050405020304" pitchFamily="18" charset="0"/>
                <a:cs typeface="Times New Roman" panose="02020603050405020304" pitchFamily="18" charset="0"/>
              </a:rPr>
              <a:t>2nd International Conference on Artificial Intelligence for Innovations in Healthcare Industries (ICAIIHI 2025)</a:t>
            </a:r>
          </a:p>
          <a:p>
            <a:r>
              <a:rPr lang="en-US" sz="1600" dirty="0">
                <a:latin typeface="Times New Roman" panose="02020603050405020304" pitchFamily="18" charset="0"/>
                <a:cs typeface="Times New Roman" panose="02020603050405020304" pitchFamily="18" charset="0"/>
              </a:rPr>
              <a:t>Technically Co-Sponsored by: IEEE Computer Society, IEEE Computer Society Technical Committee on Intelligent Informatics (TCII) </a:t>
            </a:r>
          </a:p>
          <a:p>
            <a:r>
              <a:rPr lang="en-US" sz="1600" dirty="0">
                <a:latin typeface="Times New Roman" panose="02020603050405020304" pitchFamily="18" charset="0"/>
                <a:cs typeface="Times New Roman" panose="02020603050405020304" pitchFamily="18" charset="0"/>
              </a:rPr>
              <a:t>Date: December 4  &amp; 5, 2025 (Hybrid Mode)</a:t>
            </a:r>
            <a:endParaRPr lang="en-IN" sz="16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3CB77519-B38C-9AD4-422D-4E56B91E343A}"/>
              </a:ext>
            </a:extLst>
          </p:cNvPr>
          <p:cNvCxnSpPr>
            <a:cxnSpLocks/>
          </p:cNvCxnSpPr>
          <p:nvPr/>
        </p:nvCxnSpPr>
        <p:spPr>
          <a:xfrm>
            <a:off x="0" y="148336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Subtitle 2">
            <a:extLst>
              <a:ext uri="{FF2B5EF4-FFF2-40B4-BE49-F238E27FC236}">
                <a16:creationId xmlns:a16="http://schemas.microsoft.com/office/drawing/2014/main" id="{7B4EB022-E127-B77C-B478-276C2553DA31}"/>
              </a:ext>
            </a:extLst>
          </p:cNvPr>
          <p:cNvSpPr txBox="1">
            <a:spLocks/>
          </p:cNvSpPr>
          <p:nvPr/>
        </p:nvSpPr>
        <p:spPr>
          <a:xfrm>
            <a:off x="0" y="2153920"/>
            <a:ext cx="12192000" cy="433832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1600" dirty="0">
              <a:latin typeface="Times New Roman" panose="02020603050405020304" pitchFamily="18" charset="0"/>
              <a:cs typeface="Times New Roman" panose="02020603050405020304" pitchFamily="18" charset="0"/>
            </a:endParaRPr>
          </a:p>
        </p:txBody>
      </p:sp>
      <p:pic>
        <p:nvPicPr>
          <p:cNvPr id="4" name="image2.png">
            <a:extLst>
              <a:ext uri="{FF2B5EF4-FFF2-40B4-BE49-F238E27FC236}">
                <a16:creationId xmlns:a16="http://schemas.microsoft.com/office/drawing/2014/main" id="{9313CEFB-58A5-ADCF-B170-ABCE48E64D98}"/>
              </a:ext>
            </a:extLst>
          </p:cNvPr>
          <p:cNvPicPr/>
          <p:nvPr/>
        </p:nvPicPr>
        <p:blipFill>
          <a:blip r:embed="rId2"/>
          <a:srcRect/>
          <a:stretch>
            <a:fillRect/>
          </a:stretch>
        </p:blipFill>
        <p:spPr>
          <a:xfrm>
            <a:off x="-9924" y="0"/>
            <a:ext cx="12201924" cy="1489977"/>
          </a:xfrm>
          <a:prstGeom prst="rect">
            <a:avLst/>
          </a:prstGeom>
        </p:spPr>
      </p:pic>
      <p:pic>
        <p:nvPicPr>
          <p:cNvPr id="9" name="Picture 8">
            <a:extLst>
              <a:ext uri="{FF2B5EF4-FFF2-40B4-BE49-F238E27FC236}">
                <a16:creationId xmlns:a16="http://schemas.microsoft.com/office/drawing/2014/main" id="{E6B8C8BC-C4C0-20AB-5343-67B2EB801F52}"/>
              </a:ext>
            </a:extLst>
          </p:cNvPr>
          <p:cNvPicPr>
            <a:picLocks noChangeAspect="1"/>
          </p:cNvPicPr>
          <p:nvPr/>
        </p:nvPicPr>
        <p:blipFill>
          <a:blip r:embed="rId3"/>
          <a:stretch>
            <a:fillRect/>
          </a:stretch>
        </p:blipFill>
        <p:spPr>
          <a:xfrm>
            <a:off x="0" y="1685026"/>
            <a:ext cx="12192000" cy="4922016"/>
          </a:xfrm>
          <a:prstGeom prst="rect">
            <a:avLst/>
          </a:prstGeom>
        </p:spPr>
      </p:pic>
    </p:spTree>
    <p:extLst>
      <p:ext uri="{BB962C8B-B14F-4D97-AF65-F5344CB8AC3E}">
        <p14:creationId xmlns:p14="http://schemas.microsoft.com/office/powerpoint/2010/main" val="240934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6A7ED-671F-F0B8-DF26-B53291914A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38C40B-5446-B713-4571-0F2849E8C2B7}"/>
              </a:ext>
            </a:extLst>
          </p:cNvPr>
          <p:cNvSpPr>
            <a:spLocks noGrp="1"/>
          </p:cNvSpPr>
          <p:nvPr>
            <p:ph type="ctrTitle"/>
          </p:nvPr>
        </p:nvSpPr>
        <p:spPr>
          <a:xfrm>
            <a:off x="1311349" y="1229360"/>
            <a:ext cx="9144000" cy="924560"/>
          </a:xfrm>
        </p:spPr>
        <p:txBody>
          <a:bodyPr>
            <a:normAutofit/>
          </a:bodyPr>
          <a:lstStyle/>
          <a:p>
            <a:r>
              <a:rPr lang="en-US" sz="4400" dirty="0">
                <a:latin typeface="Times New Roman" panose="02020603050405020304" pitchFamily="18" charset="0"/>
                <a:cs typeface="Times New Roman" panose="02020603050405020304" pitchFamily="18" charset="0"/>
              </a:rPr>
              <a:t>Conclusion</a:t>
            </a:r>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3525075-8AD8-C183-C6A9-6F4B55308C90}"/>
              </a:ext>
            </a:extLst>
          </p:cNvPr>
          <p:cNvSpPr>
            <a:spLocks noGrp="1"/>
          </p:cNvSpPr>
          <p:nvPr>
            <p:ph type="subTitle" idx="1"/>
          </p:nvPr>
        </p:nvSpPr>
        <p:spPr>
          <a:xfrm>
            <a:off x="101600" y="0"/>
            <a:ext cx="11998960" cy="1229360"/>
          </a:xfrm>
        </p:spPr>
        <p:txBody>
          <a:bodyPr>
            <a:noAutofit/>
          </a:bodyPr>
          <a:lstStyle/>
          <a:p>
            <a:r>
              <a:rPr lang="en-US" sz="2500" dirty="0">
                <a:latin typeface="Times New Roman" panose="02020603050405020304" pitchFamily="18" charset="0"/>
                <a:cs typeface="Times New Roman" panose="02020603050405020304" pitchFamily="18" charset="0"/>
              </a:rPr>
              <a:t>2nd International Conference on Artificial Intelligence for Innovations in Healthcare Industries (ICAIIHI 2025)</a:t>
            </a:r>
          </a:p>
          <a:p>
            <a:r>
              <a:rPr lang="en-US" sz="1600" dirty="0">
                <a:latin typeface="Times New Roman" panose="02020603050405020304" pitchFamily="18" charset="0"/>
                <a:cs typeface="Times New Roman" panose="02020603050405020304" pitchFamily="18" charset="0"/>
              </a:rPr>
              <a:t>Technically Co-Sponsored by: IEEE Computer Society, IEEE Computer Society Technical Committee on Intelligent Informatics (TCII) </a:t>
            </a:r>
          </a:p>
          <a:p>
            <a:r>
              <a:rPr lang="en-US" sz="1600" dirty="0">
                <a:latin typeface="Times New Roman" panose="02020603050405020304" pitchFamily="18" charset="0"/>
                <a:cs typeface="Times New Roman" panose="02020603050405020304" pitchFamily="18" charset="0"/>
              </a:rPr>
              <a:t>Date: December 4  &amp; 5, 2025 (Hybrid Mode)</a:t>
            </a:r>
            <a:endParaRPr lang="en-IN" sz="16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58EB0B2B-0920-2D60-2963-9C18B23317B8}"/>
              </a:ext>
            </a:extLst>
          </p:cNvPr>
          <p:cNvCxnSpPr>
            <a:cxnSpLocks/>
          </p:cNvCxnSpPr>
          <p:nvPr/>
        </p:nvCxnSpPr>
        <p:spPr>
          <a:xfrm>
            <a:off x="0" y="148336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Subtitle 2">
            <a:extLst>
              <a:ext uri="{FF2B5EF4-FFF2-40B4-BE49-F238E27FC236}">
                <a16:creationId xmlns:a16="http://schemas.microsoft.com/office/drawing/2014/main" id="{8663D2C7-4251-230A-47F5-88343774D852}"/>
              </a:ext>
            </a:extLst>
          </p:cNvPr>
          <p:cNvSpPr txBox="1">
            <a:spLocks/>
          </p:cNvSpPr>
          <p:nvPr/>
        </p:nvSpPr>
        <p:spPr>
          <a:xfrm>
            <a:off x="0" y="2153920"/>
            <a:ext cx="12192000" cy="433832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F9BE2EF-2066-AF2E-0912-7CB3D44F9842}"/>
              </a:ext>
            </a:extLst>
          </p:cNvPr>
          <p:cNvSpPr txBox="1"/>
          <p:nvPr/>
        </p:nvSpPr>
        <p:spPr>
          <a:xfrm>
            <a:off x="545804" y="2153920"/>
            <a:ext cx="11249247" cy="337637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The AI based voice tutor system is developed to make learning easier for visually impaired students.</a:t>
            </a:r>
          </a:p>
          <a:p>
            <a:pPr marL="285750" indent="-285750">
              <a:lnSpc>
                <a:spcPct val="150000"/>
              </a:lnSpc>
              <a:buFont typeface="Arial" panose="020B0604020202020204" pitchFamily="34" charset="0"/>
              <a:buChar char="•"/>
            </a:pPr>
            <a:r>
              <a:rPr lang="en-US" dirty="0"/>
              <a:t> It allows users to interact through voice, understand their queries, and provide responses in an accessible way.</a:t>
            </a:r>
          </a:p>
          <a:p>
            <a:pPr marL="285750" indent="-285750">
              <a:lnSpc>
                <a:spcPct val="150000"/>
              </a:lnSpc>
              <a:buFont typeface="Arial" panose="020B0604020202020204" pitchFamily="34" charset="0"/>
              <a:buChar char="•"/>
            </a:pPr>
            <a:r>
              <a:rPr lang="en-US" dirty="0"/>
              <a:t> The system also supports PDF input, which helps users to study materials independently without needing help from others. </a:t>
            </a:r>
          </a:p>
          <a:p>
            <a:pPr marL="285750" indent="-285750">
              <a:lnSpc>
                <a:spcPct val="150000"/>
              </a:lnSpc>
              <a:buFont typeface="Arial" panose="020B0604020202020204" pitchFamily="34" charset="0"/>
              <a:buChar char="•"/>
            </a:pPr>
            <a:r>
              <a:rPr lang="en-US" dirty="0"/>
              <a:t>Overall, this project improves accessibility, makes learning more interactive, and reduces dependency on external support. Even though the system works well, there is still scope for improvement in terms of accuracy and performance.</a:t>
            </a:r>
            <a:endParaRPr lang="en-IN" b="1" dirty="0"/>
          </a:p>
        </p:txBody>
      </p:sp>
      <p:pic>
        <p:nvPicPr>
          <p:cNvPr id="6" name="image2.png">
            <a:extLst>
              <a:ext uri="{FF2B5EF4-FFF2-40B4-BE49-F238E27FC236}">
                <a16:creationId xmlns:a16="http://schemas.microsoft.com/office/drawing/2014/main" id="{974C98CC-0BDF-4338-9623-69EA4D020E62}"/>
              </a:ext>
            </a:extLst>
          </p:cNvPr>
          <p:cNvPicPr/>
          <p:nvPr/>
        </p:nvPicPr>
        <p:blipFill>
          <a:blip r:embed="rId2"/>
          <a:srcRect/>
          <a:stretch>
            <a:fillRect/>
          </a:stretch>
        </p:blipFill>
        <p:spPr>
          <a:xfrm>
            <a:off x="-9924" y="0"/>
            <a:ext cx="12201924" cy="1489977"/>
          </a:xfrm>
          <a:prstGeom prst="rect">
            <a:avLst/>
          </a:prstGeom>
        </p:spPr>
      </p:pic>
    </p:spTree>
    <p:extLst>
      <p:ext uri="{BB962C8B-B14F-4D97-AF65-F5344CB8AC3E}">
        <p14:creationId xmlns:p14="http://schemas.microsoft.com/office/powerpoint/2010/main" val="1437917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EE2CE-E352-D6E8-B53E-B79707627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C24EEB-0785-3210-1543-858A7570420E}"/>
              </a:ext>
            </a:extLst>
          </p:cNvPr>
          <p:cNvSpPr>
            <a:spLocks noGrp="1"/>
          </p:cNvSpPr>
          <p:nvPr>
            <p:ph type="ctrTitle"/>
          </p:nvPr>
        </p:nvSpPr>
        <p:spPr>
          <a:xfrm>
            <a:off x="1311349" y="1229360"/>
            <a:ext cx="9144000" cy="924560"/>
          </a:xfrm>
        </p:spPr>
        <p:txBody>
          <a:bodyPr>
            <a:normAutofit/>
          </a:bodyPr>
          <a:lstStyle/>
          <a:p>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2E18B21-058F-77E7-698F-9FDBE21DDD9B}"/>
              </a:ext>
            </a:extLst>
          </p:cNvPr>
          <p:cNvSpPr>
            <a:spLocks noGrp="1"/>
          </p:cNvSpPr>
          <p:nvPr>
            <p:ph type="subTitle" idx="1"/>
          </p:nvPr>
        </p:nvSpPr>
        <p:spPr>
          <a:xfrm>
            <a:off x="101600" y="0"/>
            <a:ext cx="11998960" cy="1229360"/>
          </a:xfrm>
        </p:spPr>
        <p:txBody>
          <a:bodyPr>
            <a:noAutofit/>
          </a:bodyPr>
          <a:lstStyle/>
          <a:p>
            <a:r>
              <a:rPr lang="en-US" sz="2500" dirty="0">
                <a:latin typeface="Times New Roman" panose="02020603050405020304" pitchFamily="18" charset="0"/>
                <a:cs typeface="Times New Roman" panose="02020603050405020304" pitchFamily="18" charset="0"/>
              </a:rPr>
              <a:t>2nd International Conference on Artificial Intelligence for Innovations in Healthcare Industries (ICAIIHI 2025)</a:t>
            </a:r>
          </a:p>
          <a:p>
            <a:r>
              <a:rPr lang="en-US" sz="1600" dirty="0">
                <a:latin typeface="Times New Roman" panose="02020603050405020304" pitchFamily="18" charset="0"/>
                <a:cs typeface="Times New Roman" panose="02020603050405020304" pitchFamily="18" charset="0"/>
              </a:rPr>
              <a:t>Technically Co-Sponsored by: IEEE Computer Society, IEEE Computer Society Technical Committee on Intelligent Informatics (TCII) </a:t>
            </a:r>
          </a:p>
          <a:p>
            <a:r>
              <a:rPr lang="en-US" sz="1600" dirty="0">
                <a:latin typeface="Times New Roman" panose="02020603050405020304" pitchFamily="18" charset="0"/>
                <a:cs typeface="Times New Roman" panose="02020603050405020304" pitchFamily="18" charset="0"/>
              </a:rPr>
              <a:t>Date: December 4  &amp; 5, 2025 (Hybrid Mode)</a:t>
            </a:r>
            <a:endParaRPr lang="en-IN" sz="16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2E930209-DF05-3835-2A24-1A1FD61040FE}"/>
              </a:ext>
            </a:extLst>
          </p:cNvPr>
          <p:cNvCxnSpPr>
            <a:cxnSpLocks/>
          </p:cNvCxnSpPr>
          <p:nvPr/>
        </p:nvCxnSpPr>
        <p:spPr>
          <a:xfrm>
            <a:off x="0" y="148336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Subtitle 2">
            <a:extLst>
              <a:ext uri="{FF2B5EF4-FFF2-40B4-BE49-F238E27FC236}">
                <a16:creationId xmlns:a16="http://schemas.microsoft.com/office/drawing/2014/main" id="{F958FE29-9F4E-B79F-CCA2-82770FDBA97D}"/>
              </a:ext>
            </a:extLst>
          </p:cNvPr>
          <p:cNvSpPr txBox="1">
            <a:spLocks/>
          </p:cNvSpPr>
          <p:nvPr/>
        </p:nvSpPr>
        <p:spPr>
          <a:xfrm>
            <a:off x="0" y="2153920"/>
            <a:ext cx="12192000" cy="433832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1600" dirty="0">
              <a:latin typeface="Times New Roman" panose="02020603050405020304" pitchFamily="18" charset="0"/>
              <a:cs typeface="Times New Roman" panose="02020603050405020304" pitchFamily="18" charset="0"/>
            </a:endParaRPr>
          </a:p>
        </p:txBody>
      </p:sp>
      <p:pic>
        <p:nvPicPr>
          <p:cNvPr id="6" name="image2.png">
            <a:extLst>
              <a:ext uri="{FF2B5EF4-FFF2-40B4-BE49-F238E27FC236}">
                <a16:creationId xmlns:a16="http://schemas.microsoft.com/office/drawing/2014/main" id="{7EC7A16D-40CD-DFD0-82BC-159D74189C5F}"/>
              </a:ext>
            </a:extLst>
          </p:cNvPr>
          <p:cNvPicPr/>
          <p:nvPr/>
        </p:nvPicPr>
        <p:blipFill>
          <a:blip r:embed="rId2"/>
          <a:srcRect/>
          <a:stretch>
            <a:fillRect/>
          </a:stretch>
        </p:blipFill>
        <p:spPr>
          <a:xfrm>
            <a:off x="-9924" y="0"/>
            <a:ext cx="12201924" cy="1489977"/>
          </a:xfrm>
          <a:prstGeom prst="rect">
            <a:avLst/>
          </a:prstGeom>
        </p:spPr>
      </p:pic>
      <p:pic>
        <p:nvPicPr>
          <p:cNvPr id="7" name="Picture 6">
            <a:extLst>
              <a:ext uri="{FF2B5EF4-FFF2-40B4-BE49-F238E27FC236}">
                <a16:creationId xmlns:a16="http://schemas.microsoft.com/office/drawing/2014/main" id="{426D4D4F-29E1-1001-E862-64CE13DDF002}"/>
              </a:ext>
            </a:extLst>
          </p:cNvPr>
          <p:cNvPicPr>
            <a:picLocks noChangeAspect="1"/>
          </p:cNvPicPr>
          <p:nvPr/>
        </p:nvPicPr>
        <p:blipFill>
          <a:blip r:embed="rId3"/>
          <a:stretch>
            <a:fillRect/>
          </a:stretch>
        </p:blipFill>
        <p:spPr>
          <a:xfrm>
            <a:off x="1207690" y="1489976"/>
            <a:ext cx="9776619" cy="5368023"/>
          </a:xfrm>
          <a:prstGeom prst="rect">
            <a:avLst/>
          </a:prstGeom>
        </p:spPr>
      </p:pic>
    </p:spTree>
    <p:extLst>
      <p:ext uri="{BB962C8B-B14F-4D97-AF65-F5344CB8AC3E}">
        <p14:creationId xmlns:p14="http://schemas.microsoft.com/office/powerpoint/2010/main" val="2214952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1A19B-A827-E671-24EB-62871A3C12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49592-363E-251C-C373-733F6CF8A541}"/>
              </a:ext>
            </a:extLst>
          </p:cNvPr>
          <p:cNvSpPr>
            <a:spLocks noGrp="1"/>
          </p:cNvSpPr>
          <p:nvPr>
            <p:ph type="ctrTitle"/>
          </p:nvPr>
        </p:nvSpPr>
        <p:spPr>
          <a:xfrm>
            <a:off x="1311349" y="1229360"/>
            <a:ext cx="9144000" cy="924560"/>
          </a:xfrm>
        </p:spPr>
        <p:txBody>
          <a:bodyPr>
            <a:normAutofit/>
          </a:bodyPr>
          <a:lstStyle/>
          <a:p>
            <a:r>
              <a:rPr lang="en-US" sz="4400" dirty="0"/>
              <a:t>Reference</a:t>
            </a:r>
            <a:endParaRPr lang="en-IN" sz="4400" dirty="0"/>
          </a:p>
        </p:txBody>
      </p:sp>
      <p:sp>
        <p:nvSpPr>
          <p:cNvPr id="3" name="Subtitle 2">
            <a:extLst>
              <a:ext uri="{FF2B5EF4-FFF2-40B4-BE49-F238E27FC236}">
                <a16:creationId xmlns:a16="http://schemas.microsoft.com/office/drawing/2014/main" id="{DE215BB6-5B1A-7E3B-F7E0-E17BF215F87B}"/>
              </a:ext>
            </a:extLst>
          </p:cNvPr>
          <p:cNvSpPr>
            <a:spLocks noGrp="1"/>
          </p:cNvSpPr>
          <p:nvPr>
            <p:ph type="subTitle" idx="1"/>
          </p:nvPr>
        </p:nvSpPr>
        <p:spPr>
          <a:xfrm>
            <a:off x="101600" y="0"/>
            <a:ext cx="11998960" cy="1229360"/>
          </a:xfrm>
        </p:spPr>
        <p:txBody>
          <a:bodyPr>
            <a:noAutofit/>
          </a:bodyPr>
          <a:lstStyle/>
          <a:p>
            <a:r>
              <a:rPr lang="en-US" sz="2500" dirty="0">
                <a:latin typeface="Times New Roman" panose="02020603050405020304" pitchFamily="18" charset="0"/>
                <a:cs typeface="Times New Roman" panose="02020603050405020304" pitchFamily="18" charset="0"/>
              </a:rPr>
              <a:t>2nd International Conference on Artificial Intelligence for Innovations in Healthcare Industries (ICAIIHI 2025)</a:t>
            </a:r>
          </a:p>
          <a:p>
            <a:r>
              <a:rPr lang="en-US" sz="1600" dirty="0">
                <a:latin typeface="Times New Roman" panose="02020603050405020304" pitchFamily="18" charset="0"/>
                <a:cs typeface="Times New Roman" panose="02020603050405020304" pitchFamily="18" charset="0"/>
              </a:rPr>
              <a:t>Technically Co-Sponsored by: IEEE Computer Society, IEEE Computer Society Technical Committee on Intelligent Informatics (TCII) </a:t>
            </a:r>
          </a:p>
          <a:p>
            <a:r>
              <a:rPr lang="en-US" sz="1600" dirty="0">
                <a:latin typeface="Times New Roman" panose="02020603050405020304" pitchFamily="18" charset="0"/>
                <a:cs typeface="Times New Roman" panose="02020603050405020304" pitchFamily="18" charset="0"/>
              </a:rPr>
              <a:t>Date: December 4  &amp; 5, 2025 (Hybrid Mode)</a:t>
            </a:r>
            <a:endParaRPr lang="en-IN" sz="16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D0CA4E87-5C20-A232-6846-C638201735D8}"/>
              </a:ext>
            </a:extLst>
          </p:cNvPr>
          <p:cNvCxnSpPr>
            <a:cxnSpLocks/>
          </p:cNvCxnSpPr>
          <p:nvPr/>
        </p:nvCxnSpPr>
        <p:spPr>
          <a:xfrm>
            <a:off x="0" y="148336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Subtitle 2">
            <a:extLst>
              <a:ext uri="{FF2B5EF4-FFF2-40B4-BE49-F238E27FC236}">
                <a16:creationId xmlns:a16="http://schemas.microsoft.com/office/drawing/2014/main" id="{48FF9337-CE08-FC3C-D47B-30AABE1C261B}"/>
              </a:ext>
            </a:extLst>
          </p:cNvPr>
          <p:cNvSpPr txBox="1">
            <a:spLocks/>
          </p:cNvSpPr>
          <p:nvPr/>
        </p:nvSpPr>
        <p:spPr>
          <a:xfrm>
            <a:off x="0" y="2153920"/>
            <a:ext cx="12192000" cy="433832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EF9091D-20FA-4C52-1294-0C72D9206FF3}"/>
              </a:ext>
            </a:extLst>
          </p:cNvPr>
          <p:cNvSpPr txBox="1"/>
          <p:nvPr/>
        </p:nvSpPr>
        <p:spPr>
          <a:xfrm>
            <a:off x="545804" y="2153920"/>
            <a:ext cx="11249247" cy="4207370"/>
          </a:xfrm>
          <a:prstGeom prst="rect">
            <a:avLst/>
          </a:prstGeom>
          <a:noFill/>
        </p:spPr>
        <p:txBody>
          <a:bodyPr wrap="square" rtlCol="0">
            <a:spAutoFit/>
          </a:bodyPr>
          <a:lstStyle/>
          <a:p>
            <a:pPr>
              <a:lnSpc>
                <a:spcPct val="150000"/>
              </a:lnSpc>
            </a:pPr>
            <a:r>
              <a:rPr lang="en-IN" dirty="0"/>
              <a:t>[1] Liang, Huanwen, Yu Lu, </a:t>
            </a:r>
            <a:r>
              <a:rPr lang="en-IN" dirty="0" err="1"/>
              <a:t>Qianying</a:t>
            </a:r>
            <a:r>
              <a:rPr lang="en-IN" dirty="0"/>
              <a:t> Liu, and </a:t>
            </a:r>
            <a:r>
              <a:rPr lang="en-IN" dirty="0" err="1"/>
              <a:t>Xianghua</a:t>
            </a:r>
            <a:r>
              <a:rPr lang="en-IN" dirty="0"/>
              <a:t> Fu, “Fully automatic classification of cardiotocographic signals with 1D-CNN and bi-directional GRU,” </a:t>
            </a:r>
            <a:r>
              <a:rPr lang="en-IN" i="1" dirty="0"/>
              <a:t>Proceedings of the 44th IEEE EMBC</a:t>
            </a:r>
            <a:r>
              <a:rPr lang="en-IN" dirty="0"/>
              <a:t>, 2022, pp. 4590–4594.</a:t>
            </a:r>
          </a:p>
          <a:p>
            <a:pPr>
              <a:lnSpc>
                <a:spcPct val="150000"/>
              </a:lnSpc>
            </a:pPr>
            <a:r>
              <a:rPr lang="en-IN" dirty="0"/>
              <a:t>[2] Huang, </a:t>
            </a:r>
            <a:r>
              <a:rPr lang="en-IN" dirty="0" err="1"/>
              <a:t>Zhuya</a:t>
            </a:r>
            <a:r>
              <a:rPr lang="en-IN" dirty="0"/>
              <a:t>, </a:t>
            </a:r>
            <a:r>
              <a:rPr lang="en-IN" dirty="0" err="1"/>
              <a:t>Junsheng</a:t>
            </a:r>
            <a:r>
              <a:rPr lang="en-IN" dirty="0"/>
              <a:t> Yu, and Ying Shan, “A multimodal deep learning-based algorithm for specific </a:t>
            </a:r>
            <a:r>
              <a:rPr lang="en-IN" dirty="0" err="1"/>
              <a:t>fetal</a:t>
            </a:r>
            <a:r>
              <a:rPr lang="en-IN" dirty="0"/>
              <a:t> heart rate events detection,” </a:t>
            </a:r>
            <a:r>
              <a:rPr lang="en-IN" i="1" dirty="0"/>
              <a:t>Biomedical Engineering / </a:t>
            </a:r>
            <a:r>
              <a:rPr lang="en-IN" i="1" dirty="0" err="1"/>
              <a:t>Biomedizinische</a:t>
            </a:r>
            <a:r>
              <a:rPr lang="en-IN" i="1" dirty="0"/>
              <a:t> Technik</a:t>
            </a:r>
            <a:r>
              <a:rPr lang="en-IN" dirty="0"/>
              <a:t>, vol. 70, no. 2, pp. 183–194, 2025.</a:t>
            </a:r>
          </a:p>
          <a:p>
            <a:pPr>
              <a:lnSpc>
                <a:spcPct val="150000"/>
              </a:lnSpc>
            </a:pPr>
            <a:r>
              <a:rPr lang="en-IN" dirty="0"/>
              <a:t>[3] Rao, Lin, Jia Lu, Hai-Rong Wu, Shu Zhao, Bang-Chun Lu, and Hong Li, “Automatic classification of </a:t>
            </a:r>
            <a:r>
              <a:rPr lang="en-IN" dirty="0" err="1"/>
              <a:t>fetal</a:t>
            </a:r>
            <a:r>
              <a:rPr lang="en-IN" dirty="0"/>
              <a:t> heart rate based on a multi-scale LSTM network,” </a:t>
            </a:r>
            <a:r>
              <a:rPr lang="en-IN" i="1" dirty="0"/>
              <a:t>Frontiers in Physiology</a:t>
            </a:r>
            <a:r>
              <a:rPr lang="en-IN" dirty="0"/>
              <a:t>, vol. 15, 2024.</a:t>
            </a:r>
          </a:p>
          <a:p>
            <a:pPr>
              <a:lnSpc>
                <a:spcPct val="150000"/>
              </a:lnSpc>
            </a:pPr>
            <a:r>
              <a:rPr lang="en-IN" dirty="0"/>
              <a:t>[4] Deng, Yanjun, </a:t>
            </a:r>
            <a:r>
              <a:rPr lang="en-IN" dirty="0" err="1"/>
              <a:t>Yefei</a:t>
            </a:r>
            <a:r>
              <a:rPr lang="en-IN" dirty="0"/>
              <a:t> Zhang, Zhixin Zhou, </a:t>
            </a:r>
            <a:r>
              <a:rPr lang="en-IN" dirty="0" err="1"/>
              <a:t>Xianfei</a:t>
            </a:r>
            <a:r>
              <a:rPr lang="en-IN" dirty="0"/>
              <a:t> Zhang, Pengfei Jiao, and Zhidong Zhao, “A lightweight </a:t>
            </a:r>
            <a:r>
              <a:rPr lang="en-IN" dirty="0" err="1"/>
              <a:t>fetal</a:t>
            </a:r>
            <a:r>
              <a:rPr lang="en-IN" dirty="0"/>
              <a:t> distress-assisted diagnosis model based on a cross-channel interactive attention mechanism,” </a:t>
            </a:r>
            <a:r>
              <a:rPr lang="en-IN" i="1" dirty="0"/>
              <a:t>Frontiers in Physiology</a:t>
            </a:r>
            <a:r>
              <a:rPr lang="en-IN" dirty="0"/>
              <a:t>, vol. 14, 2023.</a:t>
            </a:r>
          </a:p>
          <a:p>
            <a:pPr>
              <a:lnSpc>
                <a:spcPct val="150000"/>
              </a:lnSpc>
            </a:pPr>
            <a:r>
              <a:rPr lang="en-IN" dirty="0"/>
              <a:t>[5] PhysioNet, “Non-Invasive </a:t>
            </a:r>
            <a:r>
              <a:rPr lang="en-IN" dirty="0" err="1"/>
              <a:t>Fetal</a:t>
            </a:r>
            <a:r>
              <a:rPr lang="en-IN" dirty="0"/>
              <a:t> ECG Database,” Available: </a:t>
            </a:r>
            <a:r>
              <a:rPr lang="en-IN" dirty="0">
                <a:hlinkClick r:id="rId2"/>
              </a:rPr>
              <a:t>https://physionet.org/content/nifecgdb/1.0.0/</a:t>
            </a:r>
            <a:endParaRPr lang="en-IN" dirty="0"/>
          </a:p>
        </p:txBody>
      </p:sp>
      <p:pic>
        <p:nvPicPr>
          <p:cNvPr id="6" name="image2.png">
            <a:extLst>
              <a:ext uri="{FF2B5EF4-FFF2-40B4-BE49-F238E27FC236}">
                <a16:creationId xmlns:a16="http://schemas.microsoft.com/office/drawing/2014/main" id="{ADAD2D53-0B06-7CAC-682B-8FFA8939D645}"/>
              </a:ext>
            </a:extLst>
          </p:cNvPr>
          <p:cNvPicPr/>
          <p:nvPr/>
        </p:nvPicPr>
        <p:blipFill>
          <a:blip r:embed="rId3"/>
          <a:srcRect/>
          <a:stretch>
            <a:fillRect/>
          </a:stretch>
        </p:blipFill>
        <p:spPr>
          <a:xfrm>
            <a:off x="-9924" y="0"/>
            <a:ext cx="12201924" cy="1489977"/>
          </a:xfrm>
          <a:prstGeom prst="rect">
            <a:avLst/>
          </a:prstGeom>
        </p:spPr>
      </p:pic>
    </p:spTree>
    <p:extLst>
      <p:ext uri="{BB962C8B-B14F-4D97-AF65-F5344CB8AC3E}">
        <p14:creationId xmlns:p14="http://schemas.microsoft.com/office/powerpoint/2010/main" val="39452471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1831</Words>
  <Application>Microsoft Office PowerPoint</Application>
  <PresentationFormat>Widescreen</PresentationFormat>
  <Paragraphs>125</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Times New Roman</vt:lpstr>
      <vt:lpstr>Office Theme</vt:lpstr>
      <vt:lpstr>AI-BASED TUTOR FOR VISUALLY IMPAIRED STUDENTS</vt:lpstr>
      <vt:lpstr>Problem Statement</vt:lpstr>
      <vt:lpstr>Literature Review</vt:lpstr>
      <vt:lpstr>Exisisting System Overview</vt:lpstr>
      <vt:lpstr>Proposed Methodology</vt:lpstr>
      <vt:lpstr>Modules with description</vt:lpstr>
      <vt:lpstr>PowerPoint Presentation</vt:lpstr>
      <vt:lpstr>Software Requirements</vt:lpstr>
      <vt:lpstr>System Architecture</vt:lpstr>
      <vt:lpstr>Flow Diagram</vt:lpstr>
      <vt:lpstr>UML diagram</vt:lpstr>
      <vt:lpstr>Results</vt:lpstr>
      <vt:lpstr>PowerPoint Presentation</vt:lpstr>
      <vt:lpstr>PowerPoint Presentation</vt:lpstr>
      <vt:lpstr>Conclusion</vt:lpstr>
      <vt:lpstr>PowerPoint Presentation</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Nitheesh Kumar</dc:creator>
  <cp:lastModifiedBy>Nitheesh Kumar</cp:lastModifiedBy>
  <cp:revision>1</cp:revision>
  <dcterms:modified xsi:type="dcterms:W3CDTF">2026-04-08T02:40:08Z</dcterms:modified>
</cp:coreProperties>
</file>